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int" charset="1" panose="00000000000000000000"/>
      <p:regular r:id="rId17"/>
    </p:embeddedFont>
    <p:embeddedFont>
      <p:font typeface="Jura Bold" charset="1" panose="00000800000000000000"/>
      <p:regular r:id="rId18"/>
    </p:embeddedFont>
    <p:embeddedFont>
      <p:font typeface="Arimo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media/image6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8932" y="890838"/>
            <a:ext cx="15925417" cy="7962709"/>
          </a:xfrm>
          <a:custGeom>
            <a:avLst/>
            <a:gdLst/>
            <a:ahLst/>
            <a:cxnLst/>
            <a:rect r="r" b="b" t="t" l="l"/>
            <a:pathLst>
              <a:path h="7962709" w="15925417">
                <a:moveTo>
                  <a:pt x="0" y="0"/>
                </a:moveTo>
                <a:lnTo>
                  <a:pt x="15925417" y="0"/>
                </a:lnTo>
                <a:lnTo>
                  <a:pt x="15925417" y="7962709"/>
                </a:lnTo>
                <a:lnTo>
                  <a:pt x="0" y="7962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02260" y="6953155"/>
            <a:ext cx="6402656" cy="1385302"/>
          </a:xfrm>
          <a:custGeom>
            <a:avLst/>
            <a:gdLst/>
            <a:ahLst/>
            <a:cxnLst/>
            <a:rect r="r" b="b" t="t" l="l"/>
            <a:pathLst>
              <a:path h="1385302" w="6402656">
                <a:moveTo>
                  <a:pt x="0" y="0"/>
                </a:moveTo>
                <a:lnTo>
                  <a:pt x="6402657" y="0"/>
                </a:lnTo>
                <a:lnTo>
                  <a:pt x="6402657" y="1385302"/>
                </a:lnTo>
                <a:lnTo>
                  <a:pt x="0" y="13853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8722" y="2436546"/>
            <a:ext cx="12609071" cy="4302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5"/>
              </a:lnSpc>
            </a:pPr>
            <a:r>
              <a:rPr lang="en-US" sz="8765" spc="96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“GESTIÓN DE HORARIOS ENTORNOS CITT Y MEMORIAS DIGITALES”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25326">
            <a:off x="12308287" y="7534412"/>
            <a:ext cx="1631188" cy="2638270"/>
          </a:xfrm>
          <a:custGeom>
            <a:avLst/>
            <a:gdLst/>
            <a:ahLst/>
            <a:cxnLst/>
            <a:rect r="r" b="b" t="t" l="l"/>
            <a:pathLst>
              <a:path h="2638270" w="1631188">
                <a:moveTo>
                  <a:pt x="0" y="0"/>
                </a:moveTo>
                <a:lnTo>
                  <a:pt x="1631188" y="0"/>
                </a:lnTo>
                <a:lnTo>
                  <a:pt x="1631188" y="2638270"/>
                </a:lnTo>
                <a:lnTo>
                  <a:pt x="0" y="263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95951" y="1388146"/>
            <a:ext cx="662360" cy="662360"/>
          </a:xfrm>
          <a:custGeom>
            <a:avLst/>
            <a:gdLst/>
            <a:ahLst/>
            <a:cxnLst/>
            <a:rect r="r" b="b" t="t" l="l"/>
            <a:pathLst>
              <a:path h="662360" w="662360">
                <a:moveTo>
                  <a:pt x="0" y="0"/>
                </a:moveTo>
                <a:lnTo>
                  <a:pt x="662360" y="0"/>
                </a:lnTo>
                <a:lnTo>
                  <a:pt x="662360" y="662360"/>
                </a:lnTo>
                <a:lnTo>
                  <a:pt x="0" y="6623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73373" y="7078192"/>
            <a:ext cx="5660432" cy="179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18"/>
              </a:lnSpc>
            </a:pPr>
            <a:r>
              <a:rPr lang="en-US" sz="2408" b="true">
                <a:solidFill>
                  <a:srgbClr val="FFFFFF"/>
                </a:solidFill>
                <a:latin typeface="Jura Bold"/>
                <a:ea typeface="Jura Bold"/>
                <a:cs typeface="Jura Bold"/>
                <a:sym typeface="Jura Bold"/>
              </a:rPr>
              <a:t>Docente: Rodrigo Álvarez Perelló</a:t>
            </a:r>
          </a:p>
          <a:p>
            <a:pPr algn="r">
              <a:lnSpc>
                <a:spcPts val="2818"/>
              </a:lnSpc>
            </a:pPr>
            <a:r>
              <a:rPr lang="en-US" sz="2408" b="true">
                <a:solidFill>
                  <a:srgbClr val="FFFFFF"/>
                </a:solidFill>
                <a:latin typeface="Jura Bold"/>
                <a:ea typeface="Jura Bold"/>
                <a:cs typeface="Jura Bold"/>
                <a:sym typeface="Jura Bold"/>
              </a:rPr>
              <a:t>Alumnos: Ricardo Uribe                </a:t>
            </a:r>
          </a:p>
          <a:p>
            <a:pPr algn="r">
              <a:lnSpc>
                <a:spcPts val="2818"/>
              </a:lnSpc>
            </a:pPr>
            <a:r>
              <a:rPr lang="en-US" sz="2408" b="true">
                <a:solidFill>
                  <a:srgbClr val="FFFFFF"/>
                </a:solidFill>
                <a:latin typeface="Jura Bold"/>
                <a:ea typeface="Jura Bold"/>
                <a:cs typeface="Jura Bold"/>
                <a:sym typeface="Jura Bold"/>
              </a:rPr>
              <a:t>Felipe Diaz                    </a:t>
            </a:r>
          </a:p>
          <a:p>
            <a:pPr algn="r">
              <a:lnSpc>
                <a:spcPts val="2818"/>
              </a:lnSpc>
            </a:pPr>
          </a:p>
          <a:p>
            <a:pPr algn="r">
              <a:lnSpc>
                <a:spcPts val="2818"/>
              </a:lnSpc>
            </a:pPr>
            <a:r>
              <a:rPr lang="en-US" sz="2408" b="true">
                <a:solidFill>
                  <a:srgbClr val="FFFFFF"/>
                </a:solidFill>
                <a:latin typeface="Jura Bold"/>
                <a:ea typeface="Jura Bold"/>
                <a:cs typeface="Jura Bold"/>
                <a:sym typeface="Jura Bold"/>
              </a:rPr>
              <a:t>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257824" y="1412780"/>
            <a:ext cx="1772352" cy="1711125"/>
          </a:xfrm>
          <a:custGeom>
            <a:avLst/>
            <a:gdLst/>
            <a:ahLst/>
            <a:cxnLst/>
            <a:rect r="r" b="b" t="t" l="l"/>
            <a:pathLst>
              <a:path h="1711125" w="1772352">
                <a:moveTo>
                  <a:pt x="0" y="0"/>
                </a:moveTo>
                <a:lnTo>
                  <a:pt x="1772352" y="0"/>
                </a:lnTo>
                <a:lnTo>
                  <a:pt x="1772352" y="1711125"/>
                </a:lnTo>
                <a:lnTo>
                  <a:pt x="0" y="1711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47407">
            <a:off x="987289" y="6665687"/>
            <a:ext cx="1999568" cy="3004815"/>
          </a:xfrm>
          <a:custGeom>
            <a:avLst/>
            <a:gdLst/>
            <a:ahLst/>
            <a:cxnLst/>
            <a:rect r="r" b="b" t="t" l="l"/>
            <a:pathLst>
              <a:path h="3004815" w="1999568">
                <a:moveTo>
                  <a:pt x="0" y="0"/>
                </a:moveTo>
                <a:lnTo>
                  <a:pt x="1999568" y="0"/>
                </a:lnTo>
                <a:lnTo>
                  <a:pt x="1999568" y="3004815"/>
                </a:lnTo>
                <a:lnTo>
                  <a:pt x="0" y="30048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2564520"/>
            <a:ext cx="1250022" cy="1118770"/>
          </a:xfrm>
          <a:custGeom>
            <a:avLst/>
            <a:gdLst/>
            <a:ahLst/>
            <a:cxnLst/>
            <a:rect r="r" b="b" t="t" l="l"/>
            <a:pathLst>
              <a:path h="1118770" w="1250022">
                <a:moveTo>
                  <a:pt x="0" y="0"/>
                </a:moveTo>
                <a:lnTo>
                  <a:pt x="1250022" y="0"/>
                </a:lnTo>
                <a:lnTo>
                  <a:pt x="1250022" y="1118770"/>
                </a:lnTo>
                <a:lnTo>
                  <a:pt x="0" y="11187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23525" y="600556"/>
            <a:ext cx="1250022" cy="1118770"/>
          </a:xfrm>
          <a:custGeom>
            <a:avLst/>
            <a:gdLst/>
            <a:ahLst/>
            <a:cxnLst/>
            <a:rect r="r" b="b" t="t" l="l"/>
            <a:pathLst>
              <a:path h="1118770" w="1250022">
                <a:moveTo>
                  <a:pt x="0" y="0"/>
                </a:moveTo>
                <a:lnTo>
                  <a:pt x="1250022" y="0"/>
                </a:lnTo>
                <a:lnTo>
                  <a:pt x="1250022" y="1118770"/>
                </a:lnTo>
                <a:lnTo>
                  <a:pt x="0" y="11187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87073" y="1244326"/>
            <a:ext cx="4629147" cy="33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6"/>
              </a:lnSpc>
            </a:pPr>
            <a:r>
              <a:rPr lang="en-US" sz="2219" b="true">
                <a:solidFill>
                  <a:srgbClr val="FFFFFF"/>
                </a:solidFill>
                <a:latin typeface="Jura Bold"/>
                <a:ea typeface="Jura Bold"/>
                <a:cs typeface="Jura Bold"/>
                <a:sym typeface="Jura Bold"/>
              </a:rPr>
              <a:t>Duoc UC Sede San Bernardo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877242" y="7828123"/>
            <a:ext cx="3142588" cy="679942"/>
          </a:xfrm>
          <a:custGeom>
            <a:avLst/>
            <a:gdLst/>
            <a:ahLst/>
            <a:cxnLst/>
            <a:rect r="r" b="b" t="t" l="l"/>
            <a:pathLst>
              <a:path h="679942" w="3142588">
                <a:moveTo>
                  <a:pt x="0" y="0"/>
                </a:moveTo>
                <a:lnTo>
                  <a:pt x="3142587" y="0"/>
                </a:lnTo>
                <a:lnTo>
                  <a:pt x="3142587" y="679942"/>
                </a:lnTo>
                <a:lnTo>
                  <a:pt x="0" y="67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77242" y="7974003"/>
            <a:ext cx="3126466" cy="38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554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Capstone 004D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55934" y="0"/>
            <a:ext cx="10597442" cy="10597442"/>
          </a:xfrm>
          <a:custGeom>
            <a:avLst/>
            <a:gdLst/>
            <a:ahLst/>
            <a:cxnLst/>
            <a:rect r="r" b="b" t="t" l="l"/>
            <a:pathLst>
              <a:path h="10597442" w="10597442">
                <a:moveTo>
                  <a:pt x="0" y="0"/>
                </a:moveTo>
                <a:lnTo>
                  <a:pt x="10597442" y="0"/>
                </a:lnTo>
                <a:lnTo>
                  <a:pt x="10597442" y="10597442"/>
                </a:lnTo>
                <a:lnTo>
                  <a:pt x="0" y="10597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7005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50909" y="9170768"/>
            <a:ext cx="4405658" cy="953224"/>
          </a:xfrm>
          <a:custGeom>
            <a:avLst/>
            <a:gdLst/>
            <a:ahLst/>
            <a:cxnLst/>
            <a:rect r="r" b="b" t="t" l="l"/>
            <a:pathLst>
              <a:path h="953224" w="4405658">
                <a:moveTo>
                  <a:pt x="0" y="0"/>
                </a:moveTo>
                <a:lnTo>
                  <a:pt x="4405658" y="0"/>
                </a:lnTo>
                <a:lnTo>
                  <a:pt x="4405658" y="953224"/>
                </a:lnTo>
                <a:lnTo>
                  <a:pt x="0" y="9532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750909" y="9375280"/>
            <a:ext cx="4383057" cy="54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9"/>
              </a:lnSpc>
            </a:pPr>
            <a:r>
              <a:rPr lang="en-US" sz="358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CITT San Beka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40089" y="401004"/>
            <a:ext cx="10316961" cy="308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0"/>
              </a:lnSpc>
            </a:pPr>
            <a:r>
              <a:rPr lang="en-US" sz="9000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PROBLEMA / NECESIDAD DETECTADA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383948">
            <a:off x="15362532" y="100211"/>
            <a:ext cx="2332158" cy="3504608"/>
          </a:xfrm>
          <a:custGeom>
            <a:avLst/>
            <a:gdLst/>
            <a:ahLst/>
            <a:cxnLst/>
            <a:rect r="r" b="b" t="t" l="l"/>
            <a:pathLst>
              <a:path h="3504608" w="2332158">
                <a:moveTo>
                  <a:pt x="0" y="0"/>
                </a:moveTo>
                <a:lnTo>
                  <a:pt x="2332158" y="0"/>
                </a:lnTo>
                <a:lnTo>
                  <a:pt x="2332158" y="3504608"/>
                </a:lnTo>
                <a:lnTo>
                  <a:pt x="0" y="3504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054121">
            <a:off x="16742640" y="3481558"/>
            <a:ext cx="1033320" cy="1671283"/>
          </a:xfrm>
          <a:custGeom>
            <a:avLst/>
            <a:gdLst/>
            <a:ahLst/>
            <a:cxnLst/>
            <a:rect r="r" b="b" t="t" l="l"/>
            <a:pathLst>
              <a:path h="1671283" w="1033320">
                <a:moveTo>
                  <a:pt x="0" y="0"/>
                </a:moveTo>
                <a:lnTo>
                  <a:pt x="1033320" y="0"/>
                </a:lnTo>
                <a:lnTo>
                  <a:pt x="1033320" y="1671282"/>
                </a:lnTo>
                <a:lnTo>
                  <a:pt x="0" y="16712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433797" y="5755343"/>
            <a:ext cx="3110625" cy="3110625"/>
          </a:xfrm>
          <a:custGeom>
            <a:avLst/>
            <a:gdLst/>
            <a:ahLst/>
            <a:cxnLst/>
            <a:rect r="r" b="b" t="t" l="l"/>
            <a:pathLst>
              <a:path h="3110625" w="3110625">
                <a:moveTo>
                  <a:pt x="3110625" y="0"/>
                </a:moveTo>
                <a:lnTo>
                  <a:pt x="0" y="0"/>
                </a:lnTo>
                <a:lnTo>
                  <a:pt x="0" y="3110625"/>
                </a:lnTo>
                <a:lnTo>
                  <a:pt x="3110625" y="3110625"/>
                </a:lnTo>
                <a:lnTo>
                  <a:pt x="3110625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50216" y="3669326"/>
            <a:ext cx="9704263" cy="55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6412" indent="-303206" lvl="1">
              <a:lnSpc>
                <a:spcPts val="4437"/>
              </a:lnSpc>
              <a:buFont typeface="Arial"/>
              <a:buChar char="•"/>
            </a:pPr>
            <a:r>
              <a:rPr lang="en-US" b="true" sz="2808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CITT San Bernardo conecta estudiantes, docentes y empresas, pero no tiene sistema formal para gestionar espacios ni conservar conocimiento.</a:t>
            </a:r>
          </a:p>
          <a:p>
            <a:pPr algn="l" marL="606412" indent="-303206" lvl="1">
              <a:lnSpc>
                <a:spcPts val="4437"/>
              </a:lnSpc>
              <a:buFont typeface="Arial"/>
              <a:buChar char="•"/>
            </a:pPr>
            <a:r>
              <a:rPr lang="en-US" b="true" sz="2808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La falta de consulta en tiempo real y registro centralizado genera incertidumbre y dificulta optimizar recursos.</a:t>
            </a:r>
          </a:p>
          <a:p>
            <a:pPr algn="l" marL="606412" indent="-303206" lvl="1">
              <a:lnSpc>
                <a:spcPts val="4437"/>
              </a:lnSpc>
              <a:buFont typeface="Arial"/>
              <a:buChar char="•"/>
            </a:pPr>
            <a:r>
              <a:rPr lang="en-US" b="true" sz="2808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Esto constituye una oportunidad para una solución tecnológica que preserve memorias, mejore la gestión y potencie la vinculación.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133851">
            <a:off x="145476" y="2191416"/>
            <a:ext cx="2790705" cy="4193683"/>
          </a:xfrm>
          <a:custGeom>
            <a:avLst/>
            <a:gdLst/>
            <a:ahLst/>
            <a:cxnLst/>
            <a:rect r="r" b="b" t="t" l="l"/>
            <a:pathLst>
              <a:path h="4193683" w="2790705">
                <a:moveTo>
                  <a:pt x="0" y="0"/>
                </a:moveTo>
                <a:lnTo>
                  <a:pt x="2790705" y="0"/>
                </a:lnTo>
                <a:lnTo>
                  <a:pt x="2790705" y="4193682"/>
                </a:lnTo>
                <a:lnTo>
                  <a:pt x="0" y="41936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97203" y="1852515"/>
            <a:ext cx="909511" cy="1111524"/>
          </a:xfrm>
          <a:custGeom>
            <a:avLst/>
            <a:gdLst/>
            <a:ahLst/>
            <a:cxnLst/>
            <a:rect r="r" b="b" t="t" l="l"/>
            <a:pathLst>
              <a:path h="1111524" w="909511">
                <a:moveTo>
                  <a:pt x="0" y="0"/>
                </a:moveTo>
                <a:lnTo>
                  <a:pt x="909511" y="0"/>
                </a:lnTo>
                <a:lnTo>
                  <a:pt x="909511" y="1111524"/>
                </a:lnTo>
                <a:lnTo>
                  <a:pt x="0" y="11115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69644" r="-10732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455" y="555762"/>
            <a:ext cx="1212641" cy="1481982"/>
          </a:xfrm>
          <a:custGeom>
            <a:avLst/>
            <a:gdLst/>
            <a:ahLst/>
            <a:cxnLst/>
            <a:rect r="r" b="b" t="t" l="l"/>
            <a:pathLst>
              <a:path h="1481982" w="1212641">
                <a:moveTo>
                  <a:pt x="0" y="0"/>
                </a:moveTo>
                <a:lnTo>
                  <a:pt x="1212641" y="0"/>
                </a:lnTo>
                <a:lnTo>
                  <a:pt x="1212641" y="1481982"/>
                </a:lnTo>
                <a:lnTo>
                  <a:pt x="0" y="14819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69644" r="-107324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8479" y="634919"/>
            <a:ext cx="16151042" cy="8075521"/>
          </a:xfrm>
          <a:custGeom>
            <a:avLst/>
            <a:gdLst/>
            <a:ahLst/>
            <a:cxnLst/>
            <a:rect r="r" b="b" t="t" l="l"/>
            <a:pathLst>
              <a:path h="8075521" w="16151042">
                <a:moveTo>
                  <a:pt x="0" y="0"/>
                </a:moveTo>
                <a:lnTo>
                  <a:pt x="16151042" y="0"/>
                </a:lnTo>
                <a:lnTo>
                  <a:pt x="16151042" y="8075521"/>
                </a:lnTo>
                <a:lnTo>
                  <a:pt x="0" y="8075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60378" y="-457954"/>
            <a:ext cx="14538907" cy="283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5"/>
              </a:lnSpc>
            </a:pPr>
            <a:r>
              <a:rPr lang="en-US" sz="14577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Propuesta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277572" y="7160051"/>
            <a:ext cx="2243424" cy="2323698"/>
          </a:xfrm>
          <a:custGeom>
            <a:avLst/>
            <a:gdLst/>
            <a:ahLst/>
            <a:cxnLst/>
            <a:rect r="r" b="b" t="t" l="l"/>
            <a:pathLst>
              <a:path h="2323698" w="2243424">
                <a:moveTo>
                  <a:pt x="0" y="0"/>
                </a:moveTo>
                <a:lnTo>
                  <a:pt x="2243425" y="0"/>
                </a:lnTo>
                <a:lnTo>
                  <a:pt x="2243425" y="2323697"/>
                </a:lnTo>
                <a:lnTo>
                  <a:pt x="0" y="23236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709" y="2819987"/>
            <a:ext cx="1418814" cy="1269838"/>
          </a:xfrm>
          <a:custGeom>
            <a:avLst/>
            <a:gdLst/>
            <a:ahLst/>
            <a:cxnLst/>
            <a:rect r="r" b="b" t="t" l="l"/>
            <a:pathLst>
              <a:path h="1269838" w="1418814">
                <a:moveTo>
                  <a:pt x="0" y="0"/>
                </a:moveTo>
                <a:lnTo>
                  <a:pt x="1418813" y="0"/>
                </a:lnTo>
                <a:lnTo>
                  <a:pt x="1418813" y="1269838"/>
                </a:lnTo>
                <a:lnTo>
                  <a:pt x="0" y="1269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4185" y="1688788"/>
            <a:ext cx="1418814" cy="1269838"/>
          </a:xfrm>
          <a:custGeom>
            <a:avLst/>
            <a:gdLst/>
            <a:ahLst/>
            <a:cxnLst/>
            <a:rect r="r" b="b" t="t" l="l"/>
            <a:pathLst>
              <a:path h="1269838" w="1418814">
                <a:moveTo>
                  <a:pt x="0" y="0"/>
                </a:moveTo>
                <a:lnTo>
                  <a:pt x="1418814" y="0"/>
                </a:lnTo>
                <a:lnTo>
                  <a:pt x="1418814" y="1269838"/>
                </a:lnTo>
                <a:lnTo>
                  <a:pt x="0" y="1269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709" y="0"/>
            <a:ext cx="1418814" cy="1269838"/>
          </a:xfrm>
          <a:custGeom>
            <a:avLst/>
            <a:gdLst/>
            <a:ahLst/>
            <a:cxnLst/>
            <a:rect r="r" b="b" t="t" l="l"/>
            <a:pathLst>
              <a:path h="1269838" w="1418814">
                <a:moveTo>
                  <a:pt x="0" y="0"/>
                </a:moveTo>
                <a:lnTo>
                  <a:pt x="1418813" y="0"/>
                </a:lnTo>
                <a:lnTo>
                  <a:pt x="1418813" y="1269838"/>
                </a:lnTo>
                <a:lnTo>
                  <a:pt x="0" y="12698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2010" y="8085460"/>
            <a:ext cx="2381025" cy="1753300"/>
          </a:xfrm>
          <a:custGeom>
            <a:avLst/>
            <a:gdLst/>
            <a:ahLst/>
            <a:cxnLst/>
            <a:rect r="r" b="b" t="t" l="l"/>
            <a:pathLst>
              <a:path h="1753300" w="2381025">
                <a:moveTo>
                  <a:pt x="0" y="0"/>
                </a:moveTo>
                <a:lnTo>
                  <a:pt x="2381025" y="0"/>
                </a:lnTo>
                <a:lnTo>
                  <a:pt x="2381025" y="1753300"/>
                </a:lnTo>
                <a:lnTo>
                  <a:pt x="0" y="1753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33851">
            <a:off x="16357961" y="1977405"/>
            <a:ext cx="2326071" cy="3495462"/>
          </a:xfrm>
          <a:custGeom>
            <a:avLst/>
            <a:gdLst/>
            <a:ahLst/>
            <a:cxnLst/>
            <a:rect r="r" b="b" t="t" l="l"/>
            <a:pathLst>
              <a:path h="3495462" w="2326071">
                <a:moveTo>
                  <a:pt x="0" y="0"/>
                </a:moveTo>
                <a:lnTo>
                  <a:pt x="2326071" y="0"/>
                </a:lnTo>
                <a:lnTo>
                  <a:pt x="2326071" y="3495462"/>
                </a:lnTo>
                <a:lnTo>
                  <a:pt x="0" y="3495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7233" y="3072423"/>
            <a:ext cx="15305195" cy="3964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Una plataforma digital int</a:t>
            </a: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egral que incorpore:</a:t>
            </a:r>
          </a:p>
          <a:p>
            <a:pPr algn="l" marL="647700" indent="-323850" lvl="1">
              <a:lnSpc>
                <a:spcPts val="3509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Sistema de reservas en línea de salas, laboratorios y espacios de trabajo.</a:t>
            </a:r>
          </a:p>
          <a:p>
            <a:pPr algn="l">
              <a:lnSpc>
                <a:spcPts val="3509"/>
              </a:lnSpc>
            </a:pPr>
          </a:p>
          <a:p>
            <a:pPr algn="l" marL="647700" indent="-323850" lvl="1">
              <a:lnSpc>
                <a:spcPts val="3509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Repositorio digital de memorias académicas, organizado y accesible para toda la comunidad.</a:t>
            </a:r>
          </a:p>
          <a:p>
            <a:pPr algn="l">
              <a:lnSpc>
                <a:spcPts val="3509"/>
              </a:lnSpc>
            </a:pPr>
          </a:p>
          <a:p>
            <a:pPr algn="l" marL="647700" indent="-323850" lvl="1">
              <a:lnSpc>
                <a:spcPts val="3509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Con esta herramienta, los estudiantes podrán aprovechar al máximo los recursos del CITT y potenciar sus proyectos de innovación.</a:t>
            </a:r>
          </a:p>
          <a:p>
            <a:pPr algn="l">
              <a:lnSpc>
                <a:spcPts val="350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01618" y="807090"/>
            <a:ext cx="6657682" cy="8401169"/>
            <a:chOff x="0" y="0"/>
            <a:chExt cx="7420473" cy="9363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20473" cy="9363717"/>
            </a:xfrm>
            <a:custGeom>
              <a:avLst/>
              <a:gdLst/>
              <a:ahLst/>
              <a:cxnLst/>
              <a:rect r="r" b="b" t="t" l="l"/>
              <a:pathLst>
                <a:path h="9363717" w="7420473">
                  <a:moveTo>
                    <a:pt x="7265881" y="936372"/>
                  </a:moveTo>
                  <a:cubicBezTo>
                    <a:pt x="7265881" y="842735"/>
                    <a:pt x="7265881" y="655460"/>
                    <a:pt x="7265881" y="561823"/>
                  </a:cubicBezTo>
                  <a:lnTo>
                    <a:pt x="7111287" y="561823"/>
                  </a:lnTo>
                  <a:lnTo>
                    <a:pt x="7111287" y="374549"/>
                  </a:lnTo>
                  <a:lnTo>
                    <a:pt x="6956694" y="374549"/>
                  </a:lnTo>
                  <a:lnTo>
                    <a:pt x="6956694" y="187274"/>
                  </a:lnTo>
                  <a:cubicBezTo>
                    <a:pt x="6879397" y="187274"/>
                    <a:pt x="6724804" y="187274"/>
                    <a:pt x="6647507" y="187274"/>
                  </a:cubicBezTo>
                  <a:lnTo>
                    <a:pt x="6647507" y="0"/>
                  </a:lnTo>
                  <a:cubicBezTo>
                    <a:pt x="4690358" y="0"/>
                    <a:pt x="2730116" y="0"/>
                    <a:pt x="772966" y="0"/>
                  </a:cubicBezTo>
                  <a:lnTo>
                    <a:pt x="772966" y="187274"/>
                  </a:lnTo>
                  <a:cubicBezTo>
                    <a:pt x="695669" y="187274"/>
                    <a:pt x="541076" y="187274"/>
                    <a:pt x="463780" y="187274"/>
                  </a:cubicBezTo>
                  <a:lnTo>
                    <a:pt x="463780" y="374549"/>
                  </a:lnTo>
                  <a:lnTo>
                    <a:pt x="309186" y="374549"/>
                  </a:lnTo>
                  <a:lnTo>
                    <a:pt x="309186" y="561823"/>
                  </a:lnTo>
                  <a:lnTo>
                    <a:pt x="154593" y="561823"/>
                  </a:lnTo>
                  <a:cubicBezTo>
                    <a:pt x="154593" y="655460"/>
                    <a:pt x="154593" y="842735"/>
                    <a:pt x="154593" y="936372"/>
                  </a:cubicBezTo>
                  <a:lnTo>
                    <a:pt x="0" y="936372"/>
                  </a:lnTo>
                  <a:cubicBezTo>
                    <a:pt x="0" y="3432739"/>
                    <a:pt x="0" y="5930979"/>
                    <a:pt x="0" y="8427345"/>
                  </a:cubicBezTo>
                  <a:lnTo>
                    <a:pt x="154593" y="8427345"/>
                  </a:lnTo>
                  <a:cubicBezTo>
                    <a:pt x="154593" y="8520982"/>
                    <a:pt x="154593" y="8708257"/>
                    <a:pt x="154593" y="8801894"/>
                  </a:cubicBezTo>
                  <a:lnTo>
                    <a:pt x="309186" y="8801894"/>
                  </a:lnTo>
                  <a:lnTo>
                    <a:pt x="309186" y="8989168"/>
                  </a:lnTo>
                  <a:lnTo>
                    <a:pt x="463780" y="8989168"/>
                  </a:lnTo>
                  <a:lnTo>
                    <a:pt x="463780" y="9176442"/>
                  </a:lnTo>
                  <a:cubicBezTo>
                    <a:pt x="541076" y="9176442"/>
                    <a:pt x="695669" y="9176442"/>
                    <a:pt x="772966" y="9176442"/>
                  </a:cubicBezTo>
                  <a:lnTo>
                    <a:pt x="772966" y="9363717"/>
                  </a:lnTo>
                  <a:cubicBezTo>
                    <a:pt x="2730116" y="9363717"/>
                    <a:pt x="4690358" y="9363717"/>
                    <a:pt x="6647507" y="9363717"/>
                  </a:cubicBezTo>
                  <a:lnTo>
                    <a:pt x="6647507" y="9176442"/>
                  </a:lnTo>
                  <a:cubicBezTo>
                    <a:pt x="6724804" y="9176442"/>
                    <a:pt x="6879397" y="9176442"/>
                    <a:pt x="6956694" y="9176442"/>
                  </a:cubicBezTo>
                  <a:lnTo>
                    <a:pt x="6956694" y="8989168"/>
                  </a:lnTo>
                  <a:lnTo>
                    <a:pt x="7111287" y="8989168"/>
                  </a:lnTo>
                  <a:lnTo>
                    <a:pt x="7111287" y="8801894"/>
                  </a:lnTo>
                  <a:lnTo>
                    <a:pt x="7265881" y="8801894"/>
                  </a:lnTo>
                  <a:cubicBezTo>
                    <a:pt x="7265881" y="8708257"/>
                    <a:pt x="7265881" y="8520982"/>
                    <a:pt x="7265881" y="8427345"/>
                  </a:cubicBezTo>
                  <a:lnTo>
                    <a:pt x="7420473" y="8427345"/>
                  </a:lnTo>
                  <a:cubicBezTo>
                    <a:pt x="7420473" y="5930979"/>
                    <a:pt x="7420473" y="3432739"/>
                    <a:pt x="7420473" y="936372"/>
                  </a:cubicBezTo>
                  <a:lnTo>
                    <a:pt x="7265881" y="936372"/>
                  </a:lnTo>
                  <a:close/>
                </a:path>
              </a:pathLst>
            </a:custGeom>
            <a:blipFill>
              <a:blip r:embed="rId4"/>
              <a:stretch>
                <a:fillRect l="0" t="-2831" r="0" b="-2831"/>
              </a:stretch>
            </a:blipFill>
            <a:ln w="209550" cap="sq">
              <a:solidFill>
                <a:srgbClr val="E35FF8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13324" y="263836"/>
            <a:ext cx="9487678" cy="9487678"/>
          </a:xfrm>
          <a:custGeom>
            <a:avLst/>
            <a:gdLst/>
            <a:ahLst/>
            <a:cxnLst/>
            <a:rect r="r" b="b" t="t" l="l"/>
            <a:pathLst>
              <a:path h="9487678" w="9487678">
                <a:moveTo>
                  <a:pt x="0" y="0"/>
                </a:moveTo>
                <a:lnTo>
                  <a:pt x="9487678" y="0"/>
                </a:lnTo>
                <a:lnTo>
                  <a:pt x="9487678" y="9487677"/>
                </a:lnTo>
                <a:lnTo>
                  <a:pt x="0" y="9487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82838" y="8120126"/>
            <a:ext cx="3091337" cy="2276348"/>
          </a:xfrm>
          <a:custGeom>
            <a:avLst/>
            <a:gdLst/>
            <a:ahLst/>
            <a:cxnLst/>
            <a:rect r="r" b="b" t="t" l="l"/>
            <a:pathLst>
              <a:path h="2276348" w="3091337">
                <a:moveTo>
                  <a:pt x="0" y="0"/>
                </a:moveTo>
                <a:lnTo>
                  <a:pt x="3091337" y="0"/>
                </a:lnTo>
                <a:lnTo>
                  <a:pt x="3091337" y="2276348"/>
                </a:lnTo>
                <a:lnTo>
                  <a:pt x="0" y="22763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99564" y="265617"/>
            <a:ext cx="1719473" cy="1899016"/>
          </a:xfrm>
          <a:custGeom>
            <a:avLst/>
            <a:gdLst/>
            <a:ahLst/>
            <a:cxnLst/>
            <a:rect r="r" b="b" t="t" l="l"/>
            <a:pathLst>
              <a:path h="1899016" w="1719473">
                <a:moveTo>
                  <a:pt x="0" y="0"/>
                </a:moveTo>
                <a:lnTo>
                  <a:pt x="1719472" y="0"/>
                </a:lnTo>
                <a:lnTo>
                  <a:pt x="1719472" y="1899016"/>
                </a:lnTo>
                <a:lnTo>
                  <a:pt x="0" y="18990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01002" y="0"/>
            <a:ext cx="2430251" cy="2430251"/>
          </a:xfrm>
          <a:custGeom>
            <a:avLst/>
            <a:gdLst/>
            <a:ahLst/>
            <a:cxnLst/>
            <a:rect r="r" b="b" t="t" l="l"/>
            <a:pathLst>
              <a:path h="2430251" w="2430251">
                <a:moveTo>
                  <a:pt x="0" y="0"/>
                </a:moveTo>
                <a:lnTo>
                  <a:pt x="2430250" y="0"/>
                </a:lnTo>
                <a:lnTo>
                  <a:pt x="2430250" y="2430251"/>
                </a:lnTo>
                <a:lnTo>
                  <a:pt x="0" y="24302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837569"/>
            <a:ext cx="8115300" cy="514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   1. Estudiantes y d</a:t>
            </a: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ocentes: ahorro de tiempo, mejor organización y acceso a proyectos previos.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   2. </a:t>
            </a: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CITT: optimización de recursos y visibilidad de la producción académica.</a:t>
            </a:r>
          </a:p>
          <a:p>
            <a:pPr algn="l">
              <a:lnSpc>
                <a:spcPts val="3720"/>
              </a:lnSpc>
            </a:pPr>
          </a:p>
          <a:p>
            <a:pPr algn="l">
              <a:lnSpc>
                <a:spcPts val="372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  3. </a:t>
            </a: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Empresas y comunidad: mayor vinculación con proyectos innovadores y talento en formación.</a:t>
            </a:r>
          </a:p>
          <a:p>
            <a:pPr algn="l">
              <a:lnSpc>
                <a:spcPts val="372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31488" y="216910"/>
            <a:ext cx="6051350" cy="251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6"/>
              </a:lnSpc>
            </a:pPr>
            <a:r>
              <a:rPr lang="en-US" sz="7339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Impacto y Beneficiarios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20236" y="3319236"/>
            <a:ext cx="6967764" cy="6967764"/>
          </a:xfrm>
          <a:custGeom>
            <a:avLst/>
            <a:gdLst/>
            <a:ahLst/>
            <a:cxnLst/>
            <a:rect r="r" b="b" t="t" l="l"/>
            <a:pathLst>
              <a:path h="6967764" w="6967764">
                <a:moveTo>
                  <a:pt x="0" y="0"/>
                </a:moveTo>
                <a:lnTo>
                  <a:pt x="6967764" y="0"/>
                </a:lnTo>
                <a:lnTo>
                  <a:pt x="6967764" y="6967764"/>
                </a:lnTo>
                <a:lnTo>
                  <a:pt x="0" y="6967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484882" y="3483882"/>
            <a:ext cx="6646028" cy="6646028"/>
          </a:xfrm>
          <a:custGeom>
            <a:avLst/>
            <a:gdLst/>
            <a:ahLst/>
            <a:cxnLst/>
            <a:rect r="r" b="b" t="t" l="l"/>
            <a:pathLst>
              <a:path h="6646028" w="6646028">
                <a:moveTo>
                  <a:pt x="0" y="0"/>
                </a:moveTo>
                <a:lnTo>
                  <a:pt x="6646029" y="0"/>
                </a:lnTo>
                <a:lnTo>
                  <a:pt x="6646029" y="6646029"/>
                </a:lnTo>
                <a:lnTo>
                  <a:pt x="0" y="6646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06536" y="5817017"/>
            <a:ext cx="4995164" cy="369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3629" indent="-286815" lvl="1">
              <a:lnSpc>
                <a:spcPts val="3294"/>
              </a:lnSpc>
              <a:buAutoNum type="arabicPeriod" startAt="1"/>
            </a:pPr>
            <a:r>
              <a:rPr lang="en-US" b="true" sz="265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Plataf</a:t>
            </a:r>
            <a:r>
              <a:rPr lang="en-US" b="true" sz="265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orma funcional con módulo de reservas y repositorio digital.</a:t>
            </a:r>
          </a:p>
          <a:p>
            <a:pPr algn="l" marL="573629" indent="-286815" lvl="1">
              <a:lnSpc>
                <a:spcPts val="3294"/>
              </a:lnSpc>
              <a:buAutoNum type="arabicPeriod" startAt="1"/>
            </a:pPr>
            <a:r>
              <a:rPr lang="en-US" b="true" sz="265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Base de datos centralizada y manuales de uso.</a:t>
            </a:r>
          </a:p>
          <a:p>
            <a:pPr algn="l" marL="573629" indent="-286815" lvl="1">
              <a:lnSpc>
                <a:spcPts val="3294"/>
              </a:lnSpc>
              <a:buAutoNum type="arabicPeriod" startAt="1"/>
            </a:pPr>
            <a:r>
              <a:rPr lang="en-US" b="true" sz="265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Validación con estudiantes y docentes en el CITT.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04508" y="3576663"/>
            <a:ext cx="6626403" cy="21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8"/>
              </a:lnSpc>
            </a:pPr>
            <a:r>
              <a:rPr lang="en-US" sz="6349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Resultados esperados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37448" y="2154224"/>
            <a:ext cx="2093463" cy="2021143"/>
          </a:xfrm>
          <a:custGeom>
            <a:avLst/>
            <a:gdLst/>
            <a:ahLst/>
            <a:cxnLst/>
            <a:rect r="r" b="b" t="t" l="l"/>
            <a:pathLst>
              <a:path h="2021143" w="2093463">
                <a:moveTo>
                  <a:pt x="0" y="0"/>
                </a:moveTo>
                <a:lnTo>
                  <a:pt x="2093463" y="0"/>
                </a:lnTo>
                <a:lnTo>
                  <a:pt x="2093463" y="2021144"/>
                </a:lnTo>
                <a:lnTo>
                  <a:pt x="0" y="2021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90781" y="9065439"/>
            <a:ext cx="1658910" cy="1221561"/>
          </a:xfrm>
          <a:custGeom>
            <a:avLst/>
            <a:gdLst/>
            <a:ahLst/>
            <a:cxnLst/>
            <a:rect r="r" b="b" t="t" l="l"/>
            <a:pathLst>
              <a:path h="1221561" w="1658910">
                <a:moveTo>
                  <a:pt x="0" y="0"/>
                </a:moveTo>
                <a:lnTo>
                  <a:pt x="1658909" y="0"/>
                </a:lnTo>
                <a:lnTo>
                  <a:pt x="1658909" y="1221561"/>
                </a:lnTo>
                <a:lnTo>
                  <a:pt x="0" y="1221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089" y="157089"/>
            <a:ext cx="6967764" cy="6967764"/>
          </a:xfrm>
          <a:custGeom>
            <a:avLst/>
            <a:gdLst/>
            <a:ahLst/>
            <a:cxnLst/>
            <a:rect r="r" b="b" t="t" l="l"/>
            <a:pathLst>
              <a:path h="6967764" w="6967764">
                <a:moveTo>
                  <a:pt x="0" y="0"/>
                </a:moveTo>
                <a:lnTo>
                  <a:pt x="6967765" y="0"/>
                </a:lnTo>
                <a:lnTo>
                  <a:pt x="6967765" y="6967765"/>
                </a:lnTo>
                <a:lnTo>
                  <a:pt x="0" y="69677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6967764" cy="6967764"/>
          </a:xfrm>
          <a:custGeom>
            <a:avLst/>
            <a:gdLst/>
            <a:ahLst/>
            <a:cxnLst/>
            <a:rect r="r" b="b" t="t" l="l"/>
            <a:pathLst>
              <a:path h="6967764" w="6967764">
                <a:moveTo>
                  <a:pt x="0" y="0"/>
                </a:moveTo>
                <a:lnTo>
                  <a:pt x="6967764" y="0"/>
                </a:lnTo>
                <a:lnTo>
                  <a:pt x="6967764" y="6967764"/>
                </a:lnTo>
                <a:lnTo>
                  <a:pt x="0" y="6967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86300" y="1565054"/>
            <a:ext cx="4995164" cy="2463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3629" indent="-286815" lvl="1">
              <a:lnSpc>
                <a:spcPts val="3294"/>
              </a:lnSpc>
              <a:buAutoNum type="arabicPeriod" startAt="1"/>
            </a:pPr>
            <a:r>
              <a:rPr lang="en-US" b="true" sz="265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S</a:t>
            </a:r>
            <a:r>
              <a:rPr lang="en-US" b="true" sz="265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e cuenta con el diseño conceptual del sistema y el modelo de base de datos.</a:t>
            </a:r>
          </a:p>
          <a:p>
            <a:pPr algn="l" marL="573629" indent="-286815" lvl="1">
              <a:lnSpc>
                <a:spcPts val="3294"/>
              </a:lnSpc>
              <a:buAutoNum type="arabicPeriod" startAt="1"/>
            </a:pPr>
            <a:r>
              <a:rPr lang="en-US" b="true" sz="265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Prototipos iniciales de la interfaz de usuario.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089" y="-119136"/>
            <a:ext cx="6626403" cy="123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8"/>
              </a:lnSpc>
            </a:pPr>
            <a:r>
              <a:rPr lang="en-US" sz="6349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 Estado actual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471881" y="6244828"/>
            <a:ext cx="1963531" cy="1445872"/>
          </a:xfrm>
          <a:custGeom>
            <a:avLst/>
            <a:gdLst/>
            <a:ahLst/>
            <a:cxnLst/>
            <a:rect r="r" b="b" t="t" l="l"/>
            <a:pathLst>
              <a:path h="1445872" w="1963531">
                <a:moveTo>
                  <a:pt x="0" y="0"/>
                </a:moveTo>
                <a:lnTo>
                  <a:pt x="1963531" y="0"/>
                </a:lnTo>
                <a:lnTo>
                  <a:pt x="1963531" y="1445873"/>
                </a:lnTo>
                <a:lnTo>
                  <a:pt x="0" y="1445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783492" y="954478"/>
            <a:ext cx="4889844" cy="6170376"/>
            <a:chOff x="0" y="0"/>
            <a:chExt cx="7420473" cy="93637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20473" cy="9363717"/>
            </a:xfrm>
            <a:custGeom>
              <a:avLst/>
              <a:gdLst/>
              <a:ahLst/>
              <a:cxnLst/>
              <a:rect r="r" b="b" t="t" l="l"/>
              <a:pathLst>
                <a:path h="9363717" w="7420473">
                  <a:moveTo>
                    <a:pt x="7265881" y="936372"/>
                  </a:moveTo>
                  <a:cubicBezTo>
                    <a:pt x="7265881" y="842735"/>
                    <a:pt x="7265881" y="655460"/>
                    <a:pt x="7265881" y="561823"/>
                  </a:cubicBezTo>
                  <a:lnTo>
                    <a:pt x="7111287" y="561823"/>
                  </a:lnTo>
                  <a:lnTo>
                    <a:pt x="7111287" y="374549"/>
                  </a:lnTo>
                  <a:lnTo>
                    <a:pt x="6956694" y="374549"/>
                  </a:lnTo>
                  <a:lnTo>
                    <a:pt x="6956694" y="187274"/>
                  </a:lnTo>
                  <a:cubicBezTo>
                    <a:pt x="6879397" y="187274"/>
                    <a:pt x="6724804" y="187274"/>
                    <a:pt x="6647507" y="187274"/>
                  </a:cubicBezTo>
                  <a:lnTo>
                    <a:pt x="6647507" y="0"/>
                  </a:lnTo>
                  <a:cubicBezTo>
                    <a:pt x="4690358" y="0"/>
                    <a:pt x="2730116" y="0"/>
                    <a:pt x="772966" y="0"/>
                  </a:cubicBezTo>
                  <a:lnTo>
                    <a:pt x="772966" y="187274"/>
                  </a:lnTo>
                  <a:cubicBezTo>
                    <a:pt x="695669" y="187274"/>
                    <a:pt x="541076" y="187274"/>
                    <a:pt x="463780" y="187274"/>
                  </a:cubicBezTo>
                  <a:lnTo>
                    <a:pt x="463780" y="374549"/>
                  </a:lnTo>
                  <a:lnTo>
                    <a:pt x="309186" y="374549"/>
                  </a:lnTo>
                  <a:lnTo>
                    <a:pt x="309186" y="561823"/>
                  </a:lnTo>
                  <a:lnTo>
                    <a:pt x="154593" y="561823"/>
                  </a:lnTo>
                  <a:cubicBezTo>
                    <a:pt x="154593" y="655460"/>
                    <a:pt x="154593" y="842735"/>
                    <a:pt x="154593" y="936372"/>
                  </a:cubicBezTo>
                  <a:lnTo>
                    <a:pt x="0" y="936372"/>
                  </a:lnTo>
                  <a:cubicBezTo>
                    <a:pt x="0" y="3432739"/>
                    <a:pt x="0" y="5930979"/>
                    <a:pt x="0" y="8427345"/>
                  </a:cubicBezTo>
                  <a:lnTo>
                    <a:pt x="154593" y="8427345"/>
                  </a:lnTo>
                  <a:cubicBezTo>
                    <a:pt x="154593" y="8520982"/>
                    <a:pt x="154593" y="8708257"/>
                    <a:pt x="154593" y="8801894"/>
                  </a:cubicBezTo>
                  <a:lnTo>
                    <a:pt x="309186" y="8801894"/>
                  </a:lnTo>
                  <a:lnTo>
                    <a:pt x="309186" y="8989168"/>
                  </a:lnTo>
                  <a:lnTo>
                    <a:pt x="463780" y="8989168"/>
                  </a:lnTo>
                  <a:lnTo>
                    <a:pt x="463780" y="9176442"/>
                  </a:lnTo>
                  <a:cubicBezTo>
                    <a:pt x="541076" y="9176442"/>
                    <a:pt x="695669" y="9176442"/>
                    <a:pt x="772966" y="9176442"/>
                  </a:cubicBezTo>
                  <a:lnTo>
                    <a:pt x="772966" y="9363717"/>
                  </a:lnTo>
                  <a:cubicBezTo>
                    <a:pt x="2730116" y="9363717"/>
                    <a:pt x="4690358" y="9363717"/>
                    <a:pt x="6647507" y="9363717"/>
                  </a:cubicBezTo>
                  <a:lnTo>
                    <a:pt x="6647507" y="9176442"/>
                  </a:lnTo>
                  <a:cubicBezTo>
                    <a:pt x="6724804" y="9176442"/>
                    <a:pt x="6879397" y="9176442"/>
                    <a:pt x="6956694" y="9176442"/>
                  </a:cubicBezTo>
                  <a:lnTo>
                    <a:pt x="6956694" y="8989168"/>
                  </a:lnTo>
                  <a:lnTo>
                    <a:pt x="7111287" y="8989168"/>
                  </a:lnTo>
                  <a:lnTo>
                    <a:pt x="7111287" y="8801894"/>
                  </a:lnTo>
                  <a:lnTo>
                    <a:pt x="7265881" y="8801894"/>
                  </a:lnTo>
                  <a:cubicBezTo>
                    <a:pt x="7265881" y="8708257"/>
                    <a:pt x="7265881" y="8520982"/>
                    <a:pt x="7265881" y="8427345"/>
                  </a:cubicBezTo>
                  <a:lnTo>
                    <a:pt x="7420473" y="8427345"/>
                  </a:lnTo>
                  <a:cubicBezTo>
                    <a:pt x="7420473" y="5930979"/>
                    <a:pt x="7420473" y="3432739"/>
                    <a:pt x="7420473" y="936372"/>
                  </a:cubicBezTo>
                  <a:lnTo>
                    <a:pt x="7265881" y="936372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6162"/>
              </a:stretch>
            </a:blipFill>
            <a:ln w="209550" cap="sq">
              <a:solidFill>
                <a:srgbClr val="E35FF8"/>
              </a:solidFill>
              <a:prstDash val="solid"/>
              <a:miter/>
            </a:ln>
          </p:spPr>
        </p:sp>
      </p:grpSp>
      <p:sp>
        <p:nvSpPr>
          <p:cNvPr name="Freeform 16" id="16"/>
          <p:cNvSpPr/>
          <p:nvPr/>
        </p:nvSpPr>
        <p:spPr>
          <a:xfrm flipH="false" flipV="false" rot="-2916361">
            <a:off x="10897386" y="238135"/>
            <a:ext cx="1367530" cy="1764555"/>
          </a:xfrm>
          <a:custGeom>
            <a:avLst/>
            <a:gdLst/>
            <a:ahLst/>
            <a:cxnLst/>
            <a:rect r="r" b="b" t="t" l="l"/>
            <a:pathLst>
              <a:path h="1764555" w="1367530">
                <a:moveTo>
                  <a:pt x="0" y="0"/>
                </a:moveTo>
                <a:lnTo>
                  <a:pt x="1367530" y="0"/>
                </a:lnTo>
                <a:lnTo>
                  <a:pt x="1367530" y="1764555"/>
                </a:lnTo>
                <a:lnTo>
                  <a:pt x="0" y="17645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299" y="318210"/>
            <a:ext cx="9704703" cy="9704703"/>
          </a:xfrm>
          <a:custGeom>
            <a:avLst/>
            <a:gdLst/>
            <a:ahLst/>
            <a:cxnLst/>
            <a:rect r="r" b="b" t="t" l="l"/>
            <a:pathLst>
              <a:path h="9704703" w="9704703">
                <a:moveTo>
                  <a:pt x="0" y="0"/>
                </a:moveTo>
                <a:lnTo>
                  <a:pt x="9704703" y="0"/>
                </a:lnTo>
                <a:lnTo>
                  <a:pt x="9704703" y="9704703"/>
                </a:lnTo>
                <a:lnTo>
                  <a:pt x="0" y="9704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2589" y="202699"/>
            <a:ext cx="9704703" cy="9704703"/>
          </a:xfrm>
          <a:custGeom>
            <a:avLst/>
            <a:gdLst/>
            <a:ahLst/>
            <a:cxnLst/>
            <a:rect r="r" b="b" t="t" l="l"/>
            <a:pathLst>
              <a:path h="9704703" w="9704703">
                <a:moveTo>
                  <a:pt x="0" y="0"/>
                </a:moveTo>
                <a:lnTo>
                  <a:pt x="9704703" y="0"/>
                </a:lnTo>
                <a:lnTo>
                  <a:pt x="9704703" y="9704703"/>
                </a:lnTo>
                <a:lnTo>
                  <a:pt x="0" y="9704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56282" y="9235369"/>
            <a:ext cx="4860480" cy="1051631"/>
          </a:xfrm>
          <a:custGeom>
            <a:avLst/>
            <a:gdLst/>
            <a:ahLst/>
            <a:cxnLst/>
            <a:rect r="r" b="b" t="t" l="l"/>
            <a:pathLst>
              <a:path h="1051631" w="4860480">
                <a:moveTo>
                  <a:pt x="0" y="0"/>
                </a:moveTo>
                <a:lnTo>
                  <a:pt x="4860479" y="0"/>
                </a:lnTo>
                <a:lnTo>
                  <a:pt x="4860479" y="1051631"/>
                </a:lnTo>
                <a:lnTo>
                  <a:pt x="0" y="1051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98261" y="9413006"/>
            <a:ext cx="4835545" cy="8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"/>
              </a:lnSpc>
            </a:pPr>
            <a:r>
              <a:rPr lang="en-US" sz="488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START!text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8921" y="406868"/>
            <a:ext cx="8912040" cy="33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3"/>
              </a:lnSpc>
            </a:pPr>
            <a:r>
              <a:rPr lang="en-US" sz="9610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Modelo de Sustentabilidad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1383948">
            <a:off x="14884608" y="5005185"/>
            <a:ext cx="2332158" cy="3504608"/>
          </a:xfrm>
          <a:custGeom>
            <a:avLst/>
            <a:gdLst/>
            <a:ahLst/>
            <a:cxnLst/>
            <a:rect r="r" b="b" t="t" l="l"/>
            <a:pathLst>
              <a:path h="3504608" w="2332158">
                <a:moveTo>
                  <a:pt x="0" y="0"/>
                </a:moveTo>
                <a:lnTo>
                  <a:pt x="2332158" y="0"/>
                </a:lnTo>
                <a:lnTo>
                  <a:pt x="2332158" y="3504609"/>
                </a:lnTo>
                <a:lnTo>
                  <a:pt x="0" y="3504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647" y="-21347"/>
            <a:ext cx="2800834" cy="2800834"/>
          </a:xfrm>
          <a:custGeom>
            <a:avLst/>
            <a:gdLst/>
            <a:ahLst/>
            <a:cxnLst/>
            <a:rect r="r" b="b" t="t" l="l"/>
            <a:pathLst>
              <a:path h="2800834" w="2800834">
                <a:moveTo>
                  <a:pt x="0" y="0"/>
                </a:moveTo>
                <a:lnTo>
                  <a:pt x="2800834" y="0"/>
                </a:lnTo>
                <a:lnTo>
                  <a:pt x="2800834" y="2800834"/>
                </a:lnTo>
                <a:lnTo>
                  <a:pt x="0" y="28008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20064" y="3583069"/>
            <a:ext cx="9509754" cy="6130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865" indent="-328432" lvl="1">
              <a:lnSpc>
                <a:spcPts val="4807"/>
              </a:lnSpc>
              <a:buFont typeface="Arial"/>
              <a:buChar char="•"/>
            </a:pPr>
            <a:r>
              <a:rPr lang="en-US" b="true" sz="3042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Integración del sistema a la infraestructura tecnológica de Duoc UC.</a:t>
            </a:r>
          </a:p>
          <a:p>
            <a:pPr algn="l">
              <a:lnSpc>
                <a:spcPts val="4807"/>
              </a:lnSpc>
            </a:pPr>
          </a:p>
          <a:p>
            <a:pPr algn="l" marL="690881" indent="-345440" lvl="1">
              <a:lnSpc>
                <a:spcPts val="5056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Administración por parte del CITT, garantizando continuidad operativa.</a:t>
            </a:r>
          </a:p>
          <a:p>
            <a:pPr algn="l">
              <a:lnSpc>
                <a:spcPts val="4807"/>
              </a:lnSpc>
            </a:pPr>
          </a:p>
          <a:p>
            <a:pPr algn="l" marL="656865" indent="-328432" lvl="1">
              <a:lnSpc>
                <a:spcPts val="4807"/>
              </a:lnSpc>
              <a:buFont typeface="Arial"/>
              <a:buChar char="•"/>
            </a:pPr>
            <a:r>
              <a:rPr lang="en-US" b="true" sz="3042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Escalabilidad: posibilidad de implementar la solución en otros CITT o sedes de Duoc UC.</a:t>
            </a:r>
          </a:p>
          <a:p>
            <a:pPr algn="l">
              <a:lnSpc>
                <a:spcPts val="480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-1133851">
            <a:off x="11991909" y="338901"/>
            <a:ext cx="2790705" cy="4193683"/>
          </a:xfrm>
          <a:custGeom>
            <a:avLst/>
            <a:gdLst/>
            <a:ahLst/>
            <a:cxnLst/>
            <a:rect r="r" b="b" t="t" l="l"/>
            <a:pathLst>
              <a:path h="4193683" w="2790705">
                <a:moveTo>
                  <a:pt x="0" y="0"/>
                </a:moveTo>
                <a:lnTo>
                  <a:pt x="2790705" y="0"/>
                </a:lnTo>
                <a:lnTo>
                  <a:pt x="2790705" y="4193682"/>
                </a:lnTo>
                <a:lnTo>
                  <a:pt x="0" y="41936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79991" y="5438436"/>
            <a:ext cx="7751190" cy="3579640"/>
          </a:xfrm>
          <a:custGeom>
            <a:avLst/>
            <a:gdLst/>
            <a:ahLst/>
            <a:cxnLst/>
            <a:rect r="r" b="b" t="t" l="l"/>
            <a:pathLst>
              <a:path h="3579640" w="7751190">
                <a:moveTo>
                  <a:pt x="0" y="0"/>
                </a:moveTo>
                <a:lnTo>
                  <a:pt x="7751190" y="0"/>
                </a:lnTo>
                <a:lnTo>
                  <a:pt x="7751190" y="3579640"/>
                </a:lnTo>
                <a:lnTo>
                  <a:pt x="0" y="3579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47086" y="5320423"/>
            <a:ext cx="7068110" cy="110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7"/>
              </a:lnSpc>
            </a:pPr>
            <a:r>
              <a:rPr lang="en-US" sz="5715" spc="62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Proyección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46743" y="6232443"/>
            <a:ext cx="6461994" cy="1779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Evolución a modelo SaaS  y licenciarse a otras instituciones educativas.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979991" y="1028700"/>
            <a:ext cx="7751190" cy="3579640"/>
          </a:xfrm>
          <a:custGeom>
            <a:avLst/>
            <a:gdLst/>
            <a:ahLst/>
            <a:cxnLst/>
            <a:rect r="r" b="b" t="t" l="l"/>
            <a:pathLst>
              <a:path h="3579640" w="7751190">
                <a:moveTo>
                  <a:pt x="0" y="0"/>
                </a:moveTo>
                <a:lnTo>
                  <a:pt x="7751190" y="0"/>
                </a:lnTo>
                <a:lnTo>
                  <a:pt x="7751190" y="3579640"/>
                </a:lnTo>
                <a:lnTo>
                  <a:pt x="0" y="35796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389792" y="1286725"/>
            <a:ext cx="7382697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4"/>
              </a:lnSpc>
            </a:pPr>
            <a:r>
              <a:rPr lang="en-US" sz="5499" spc="60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¿Para quién está hecho?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46743" y="2419296"/>
            <a:ext cx="6353865" cy="117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Estudiantes, docentes y comunidad académica del CITT.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568349" y="5558548"/>
            <a:ext cx="7751190" cy="3579640"/>
          </a:xfrm>
          <a:custGeom>
            <a:avLst/>
            <a:gdLst/>
            <a:ahLst/>
            <a:cxnLst/>
            <a:rect r="r" b="b" t="t" l="l"/>
            <a:pathLst>
              <a:path h="3579640" w="7751190">
                <a:moveTo>
                  <a:pt x="7751189" y="0"/>
                </a:moveTo>
                <a:lnTo>
                  <a:pt x="0" y="0"/>
                </a:lnTo>
                <a:lnTo>
                  <a:pt x="0" y="3579640"/>
                </a:lnTo>
                <a:lnTo>
                  <a:pt x="7751189" y="3579640"/>
                </a:lnTo>
                <a:lnTo>
                  <a:pt x="77511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5092" y="5695022"/>
            <a:ext cx="7068110" cy="110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7"/>
              </a:lnSpc>
            </a:pPr>
            <a:r>
              <a:rPr lang="en-US" sz="5715" spc="62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¿Qué valor entrega?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5443" y="6678824"/>
            <a:ext cx="6147407" cy="1779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Optimiza tiempos, organiza recursos y facilita el acceso a información valiosa.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568349" y="1018033"/>
            <a:ext cx="7751190" cy="3579640"/>
          </a:xfrm>
          <a:custGeom>
            <a:avLst/>
            <a:gdLst/>
            <a:ahLst/>
            <a:cxnLst/>
            <a:rect r="r" b="b" t="t" l="l"/>
            <a:pathLst>
              <a:path h="3579640" w="7751190">
                <a:moveTo>
                  <a:pt x="7751189" y="0"/>
                </a:moveTo>
                <a:lnTo>
                  <a:pt x="0" y="0"/>
                </a:lnTo>
                <a:lnTo>
                  <a:pt x="0" y="3579640"/>
                </a:lnTo>
                <a:lnTo>
                  <a:pt x="7751189" y="3579640"/>
                </a:lnTo>
                <a:lnTo>
                  <a:pt x="77511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75092" y="1135457"/>
            <a:ext cx="706811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4"/>
              </a:lnSpc>
            </a:pPr>
            <a:r>
              <a:rPr lang="en-US" sz="5499" spc="60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¿Qué es el proyecto?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5443" y="2119259"/>
            <a:ext cx="6147407" cy="1779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Una plataforma que combina gestión de espacios y preservación de conocimiento.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20056" y="2807853"/>
            <a:ext cx="4447888" cy="4540515"/>
            <a:chOff x="0" y="0"/>
            <a:chExt cx="622046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2046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220460">
                  <a:moveTo>
                    <a:pt x="6090920" y="2592070"/>
                  </a:moveTo>
                  <a:lnTo>
                    <a:pt x="6090920" y="2203450"/>
                  </a:lnTo>
                  <a:lnTo>
                    <a:pt x="5961380" y="2203450"/>
                  </a:lnTo>
                  <a:lnTo>
                    <a:pt x="5961380" y="1944370"/>
                  </a:lnTo>
                  <a:lnTo>
                    <a:pt x="5831840" y="1944370"/>
                  </a:lnTo>
                  <a:lnTo>
                    <a:pt x="5831840" y="1685290"/>
                  </a:lnTo>
                  <a:lnTo>
                    <a:pt x="5702300" y="1685290"/>
                  </a:lnTo>
                  <a:lnTo>
                    <a:pt x="5702300" y="1424940"/>
                  </a:lnTo>
                  <a:lnTo>
                    <a:pt x="5572760" y="1424940"/>
                  </a:lnTo>
                  <a:lnTo>
                    <a:pt x="5572760" y="1295400"/>
                  </a:lnTo>
                  <a:lnTo>
                    <a:pt x="5443220" y="1295400"/>
                  </a:lnTo>
                  <a:lnTo>
                    <a:pt x="5443220" y="1165860"/>
                  </a:lnTo>
                  <a:lnTo>
                    <a:pt x="5313680" y="1165860"/>
                  </a:lnTo>
                  <a:lnTo>
                    <a:pt x="5313680" y="1036320"/>
                  </a:lnTo>
                  <a:lnTo>
                    <a:pt x="5184140" y="1036320"/>
                  </a:lnTo>
                  <a:lnTo>
                    <a:pt x="5184140" y="906780"/>
                  </a:lnTo>
                  <a:lnTo>
                    <a:pt x="5054600" y="906780"/>
                  </a:lnTo>
                  <a:lnTo>
                    <a:pt x="5054600" y="777240"/>
                  </a:lnTo>
                  <a:lnTo>
                    <a:pt x="4925060" y="777240"/>
                  </a:lnTo>
                  <a:lnTo>
                    <a:pt x="4925060" y="647700"/>
                  </a:lnTo>
                  <a:lnTo>
                    <a:pt x="4795520" y="647700"/>
                  </a:lnTo>
                  <a:lnTo>
                    <a:pt x="4795520" y="518160"/>
                  </a:lnTo>
                  <a:lnTo>
                    <a:pt x="4535170" y="518160"/>
                  </a:lnTo>
                  <a:lnTo>
                    <a:pt x="4535170" y="388620"/>
                  </a:lnTo>
                  <a:lnTo>
                    <a:pt x="4276090" y="388620"/>
                  </a:lnTo>
                  <a:lnTo>
                    <a:pt x="4276090" y="259080"/>
                  </a:lnTo>
                  <a:lnTo>
                    <a:pt x="4017010" y="259080"/>
                  </a:lnTo>
                  <a:lnTo>
                    <a:pt x="4017010" y="129540"/>
                  </a:lnTo>
                  <a:lnTo>
                    <a:pt x="3628390" y="129540"/>
                  </a:lnTo>
                  <a:lnTo>
                    <a:pt x="3628390" y="0"/>
                  </a:lnTo>
                  <a:lnTo>
                    <a:pt x="2592070" y="0"/>
                  </a:lnTo>
                  <a:lnTo>
                    <a:pt x="2592070" y="129540"/>
                  </a:lnTo>
                  <a:lnTo>
                    <a:pt x="2203450" y="129540"/>
                  </a:lnTo>
                  <a:lnTo>
                    <a:pt x="2203450" y="259080"/>
                  </a:lnTo>
                  <a:lnTo>
                    <a:pt x="1944370" y="259080"/>
                  </a:lnTo>
                  <a:lnTo>
                    <a:pt x="1944370" y="388620"/>
                  </a:lnTo>
                  <a:lnTo>
                    <a:pt x="1685290" y="388620"/>
                  </a:lnTo>
                  <a:lnTo>
                    <a:pt x="1685290" y="518160"/>
                  </a:lnTo>
                  <a:lnTo>
                    <a:pt x="1424940" y="518160"/>
                  </a:lnTo>
                  <a:lnTo>
                    <a:pt x="1424940" y="647700"/>
                  </a:lnTo>
                  <a:lnTo>
                    <a:pt x="1295400" y="647700"/>
                  </a:lnTo>
                  <a:lnTo>
                    <a:pt x="1295400" y="777240"/>
                  </a:lnTo>
                  <a:lnTo>
                    <a:pt x="1165860" y="777240"/>
                  </a:lnTo>
                  <a:lnTo>
                    <a:pt x="1165860" y="906780"/>
                  </a:lnTo>
                  <a:lnTo>
                    <a:pt x="1036320" y="906780"/>
                  </a:lnTo>
                  <a:lnTo>
                    <a:pt x="1036320" y="1036320"/>
                  </a:lnTo>
                  <a:lnTo>
                    <a:pt x="906780" y="1036320"/>
                  </a:lnTo>
                  <a:lnTo>
                    <a:pt x="906780" y="1165860"/>
                  </a:lnTo>
                  <a:lnTo>
                    <a:pt x="777240" y="1165860"/>
                  </a:lnTo>
                  <a:lnTo>
                    <a:pt x="777240" y="1295400"/>
                  </a:lnTo>
                  <a:lnTo>
                    <a:pt x="647700" y="1295400"/>
                  </a:lnTo>
                  <a:lnTo>
                    <a:pt x="647700" y="1424940"/>
                  </a:lnTo>
                  <a:lnTo>
                    <a:pt x="518160" y="1424940"/>
                  </a:lnTo>
                  <a:lnTo>
                    <a:pt x="518160" y="1685290"/>
                  </a:lnTo>
                  <a:lnTo>
                    <a:pt x="388620" y="1685290"/>
                  </a:lnTo>
                  <a:lnTo>
                    <a:pt x="388620" y="1944370"/>
                  </a:lnTo>
                  <a:lnTo>
                    <a:pt x="259080" y="1944370"/>
                  </a:lnTo>
                  <a:lnTo>
                    <a:pt x="259080" y="2203450"/>
                  </a:lnTo>
                  <a:lnTo>
                    <a:pt x="129540" y="2203450"/>
                  </a:lnTo>
                  <a:lnTo>
                    <a:pt x="129540" y="2592070"/>
                  </a:lnTo>
                  <a:lnTo>
                    <a:pt x="0" y="2592070"/>
                  </a:lnTo>
                  <a:lnTo>
                    <a:pt x="0" y="3757930"/>
                  </a:lnTo>
                  <a:lnTo>
                    <a:pt x="129540" y="3757930"/>
                  </a:lnTo>
                  <a:lnTo>
                    <a:pt x="129540" y="4146550"/>
                  </a:lnTo>
                  <a:lnTo>
                    <a:pt x="259080" y="4146550"/>
                  </a:lnTo>
                  <a:lnTo>
                    <a:pt x="259080" y="4405630"/>
                  </a:lnTo>
                  <a:lnTo>
                    <a:pt x="388620" y="4405630"/>
                  </a:lnTo>
                  <a:lnTo>
                    <a:pt x="388620" y="4664710"/>
                  </a:lnTo>
                  <a:lnTo>
                    <a:pt x="518160" y="4664710"/>
                  </a:lnTo>
                  <a:lnTo>
                    <a:pt x="518160" y="4925060"/>
                  </a:lnTo>
                  <a:lnTo>
                    <a:pt x="647700" y="4925060"/>
                  </a:lnTo>
                  <a:lnTo>
                    <a:pt x="647700" y="5054600"/>
                  </a:lnTo>
                  <a:lnTo>
                    <a:pt x="777240" y="5054600"/>
                  </a:lnTo>
                  <a:lnTo>
                    <a:pt x="777240" y="5184140"/>
                  </a:lnTo>
                  <a:lnTo>
                    <a:pt x="906780" y="5184140"/>
                  </a:lnTo>
                  <a:lnTo>
                    <a:pt x="906780" y="5313680"/>
                  </a:lnTo>
                  <a:lnTo>
                    <a:pt x="1036320" y="5313680"/>
                  </a:lnTo>
                  <a:lnTo>
                    <a:pt x="1036320" y="5443220"/>
                  </a:lnTo>
                  <a:lnTo>
                    <a:pt x="1165860" y="5443220"/>
                  </a:lnTo>
                  <a:lnTo>
                    <a:pt x="1165860" y="5572760"/>
                  </a:lnTo>
                  <a:lnTo>
                    <a:pt x="1295400" y="5572760"/>
                  </a:lnTo>
                  <a:lnTo>
                    <a:pt x="1295400" y="5702300"/>
                  </a:lnTo>
                  <a:lnTo>
                    <a:pt x="1424940" y="5702300"/>
                  </a:lnTo>
                  <a:lnTo>
                    <a:pt x="1424940" y="5831840"/>
                  </a:lnTo>
                  <a:lnTo>
                    <a:pt x="1685290" y="5831840"/>
                  </a:lnTo>
                  <a:lnTo>
                    <a:pt x="1685290" y="5961380"/>
                  </a:lnTo>
                  <a:lnTo>
                    <a:pt x="1944370" y="5961380"/>
                  </a:lnTo>
                  <a:lnTo>
                    <a:pt x="1944370" y="6090920"/>
                  </a:lnTo>
                  <a:lnTo>
                    <a:pt x="2203450" y="6090920"/>
                  </a:lnTo>
                  <a:lnTo>
                    <a:pt x="2203450" y="6220460"/>
                  </a:lnTo>
                  <a:lnTo>
                    <a:pt x="2592070" y="6220460"/>
                  </a:lnTo>
                  <a:lnTo>
                    <a:pt x="2592070" y="6350000"/>
                  </a:lnTo>
                  <a:lnTo>
                    <a:pt x="3628390" y="6350000"/>
                  </a:lnTo>
                  <a:lnTo>
                    <a:pt x="3628390" y="6220460"/>
                  </a:lnTo>
                  <a:lnTo>
                    <a:pt x="4017010" y="6220460"/>
                  </a:lnTo>
                  <a:lnTo>
                    <a:pt x="4017010" y="6090920"/>
                  </a:lnTo>
                  <a:lnTo>
                    <a:pt x="4276090" y="6090920"/>
                  </a:lnTo>
                  <a:lnTo>
                    <a:pt x="4276090" y="5961380"/>
                  </a:lnTo>
                  <a:lnTo>
                    <a:pt x="4535170" y="5961380"/>
                  </a:lnTo>
                  <a:lnTo>
                    <a:pt x="4535170" y="5831840"/>
                  </a:lnTo>
                  <a:lnTo>
                    <a:pt x="4795520" y="5831840"/>
                  </a:lnTo>
                  <a:lnTo>
                    <a:pt x="4795520" y="5702300"/>
                  </a:lnTo>
                  <a:lnTo>
                    <a:pt x="4925060" y="5702300"/>
                  </a:lnTo>
                  <a:lnTo>
                    <a:pt x="4925060" y="5572760"/>
                  </a:lnTo>
                  <a:lnTo>
                    <a:pt x="5054600" y="5572760"/>
                  </a:lnTo>
                  <a:lnTo>
                    <a:pt x="5054600" y="5443220"/>
                  </a:lnTo>
                  <a:lnTo>
                    <a:pt x="5184140" y="5443220"/>
                  </a:lnTo>
                  <a:lnTo>
                    <a:pt x="5184140" y="5313680"/>
                  </a:lnTo>
                  <a:lnTo>
                    <a:pt x="5313680" y="5313680"/>
                  </a:lnTo>
                  <a:lnTo>
                    <a:pt x="5313680" y="5184140"/>
                  </a:lnTo>
                  <a:lnTo>
                    <a:pt x="5443220" y="5184140"/>
                  </a:lnTo>
                  <a:lnTo>
                    <a:pt x="5443220" y="5054600"/>
                  </a:lnTo>
                  <a:lnTo>
                    <a:pt x="5572760" y="5054600"/>
                  </a:lnTo>
                  <a:lnTo>
                    <a:pt x="5572760" y="4925060"/>
                  </a:lnTo>
                  <a:lnTo>
                    <a:pt x="5702300" y="4925060"/>
                  </a:lnTo>
                  <a:lnTo>
                    <a:pt x="5702300" y="4664710"/>
                  </a:lnTo>
                  <a:lnTo>
                    <a:pt x="5831840" y="4664710"/>
                  </a:lnTo>
                  <a:lnTo>
                    <a:pt x="5831840" y="4405630"/>
                  </a:lnTo>
                  <a:lnTo>
                    <a:pt x="5961380" y="4405630"/>
                  </a:lnTo>
                  <a:lnTo>
                    <a:pt x="5961380" y="4146550"/>
                  </a:lnTo>
                  <a:lnTo>
                    <a:pt x="6090920" y="4146550"/>
                  </a:lnTo>
                  <a:lnTo>
                    <a:pt x="6090920" y="3757930"/>
                  </a:lnTo>
                  <a:lnTo>
                    <a:pt x="6220460" y="3757930"/>
                  </a:lnTo>
                  <a:lnTo>
                    <a:pt x="6220460" y="2592070"/>
                  </a:lnTo>
                  <a:close/>
                </a:path>
              </a:pathLst>
            </a:custGeom>
            <a:solidFill>
              <a:srgbClr val="E5FF00"/>
            </a:solidFill>
            <a:ln w="127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920056" y="3809478"/>
            <a:ext cx="4493030" cy="235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1"/>
              </a:lnSpc>
            </a:pPr>
            <a:r>
              <a:rPr lang="en-US" sz="7949" spc="87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MODELO DE NEGOCIO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1725" y="1331134"/>
            <a:ext cx="7788960" cy="7788960"/>
          </a:xfrm>
          <a:custGeom>
            <a:avLst/>
            <a:gdLst/>
            <a:ahLst/>
            <a:cxnLst/>
            <a:rect r="r" b="b" t="t" l="l"/>
            <a:pathLst>
              <a:path h="7788960" w="7788960">
                <a:moveTo>
                  <a:pt x="0" y="0"/>
                </a:moveTo>
                <a:lnTo>
                  <a:pt x="7788960" y="0"/>
                </a:lnTo>
                <a:lnTo>
                  <a:pt x="7788960" y="7788960"/>
                </a:lnTo>
                <a:lnTo>
                  <a:pt x="0" y="7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1026" y="1028700"/>
            <a:ext cx="7788960" cy="7788960"/>
          </a:xfrm>
          <a:custGeom>
            <a:avLst/>
            <a:gdLst/>
            <a:ahLst/>
            <a:cxnLst/>
            <a:rect r="r" b="b" t="t" l="l"/>
            <a:pathLst>
              <a:path h="7788960" w="7788960">
                <a:moveTo>
                  <a:pt x="0" y="0"/>
                </a:moveTo>
                <a:lnTo>
                  <a:pt x="7788960" y="0"/>
                </a:lnTo>
                <a:lnTo>
                  <a:pt x="7788960" y="7788960"/>
                </a:lnTo>
                <a:lnTo>
                  <a:pt x="0" y="7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4665" y="1794622"/>
            <a:ext cx="7788960" cy="159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8"/>
              </a:lnSpc>
            </a:pPr>
            <a:r>
              <a:rPr lang="en-US" sz="8177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Meteodología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22037" y="4097039"/>
            <a:ext cx="5766940" cy="237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Se utiliza Scrum, con trabajo iterativo en Sprints para construir los módulos de manera incremental.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799507" y="1331134"/>
            <a:ext cx="7788960" cy="7788960"/>
          </a:xfrm>
          <a:custGeom>
            <a:avLst/>
            <a:gdLst/>
            <a:ahLst/>
            <a:cxnLst/>
            <a:rect r="r" b="b" t="t" l="l"/>
            <a:pathLst>
              <a:path h="7788960" w="7788960">
                <a:moveTo>
                  <a:pt x="0" y="0"/>
                </a:moveTo>
                <a:lnTo>
                  <a:pt x="7788960" y="0"/>
                </a:lnTo>
                <a:lnTo>
                  <a:pt x="7788960" y="7788960"/>
                </a:lnTo>
                <a:lnTo>
                  <a:pt x="0" y="7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28809" y="1028700"/>
            <a:ext cx="7788960" cy="7788960"/>
          </a:xfrm>
          <a:custGeom>
            <a:avLst/>
            <a:gdLst/>
            <a:ahLst/>
            <a:cxnLst/>
            <a:rect r="r" b="b" t="t" l="l"/>
            <a:pathLst>
              <a:path h="7788960" w="7788960">
                <a:moveTo>
                  <a:pt x="0" y="0"/>
                </a:moveTo>
                <a:lnTo>
                  <a:pt x="7788960" y="0"/>
                </a:lnTo>
                <a:lnTo>
                  <a:pt x="7788960" y="7788960"/>
                </a:lnTo>
                <a:lnTo>
                  <a:pt x="0" y="77889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99507" y="3069975"/>
            <a:ext cx="6781636" cy="597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Ricardo Uribe Urrutia → Desarrollo backend</a:t>
            </a:r>
          </a:p>
          <a:p>
            <a:pPr algn="l" marL="647700" indent="-323850" lvl="1">
              <a:lnSpc>
                <a:spcPts val="47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Base de datos</a:t>
            </a:r>
          </a:p>
          <a:p>
            <a:pPr algn="l" marL="647700" indent="-323850" lvl="1">
              <a:lnSpc>
                <a:spcPts val="47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Coordinación.</a:t>
            </a:r>
          </a:p>
          <a:p>
            <a:pPr algn="l">
              <a:lnSpc>
                <a:spcPts val="4740"/>
              </a:lnSpc>
            </a:pPr>
          </a:p>
          <a:p>
            <a:pPr algn="l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Felipe Díaz Riquelme → </a:t>
            </a:r>
          </a:p>
          <a:p>
            <a:pPr algn="l" marL="647700" indent="-323850" lvl="1">
              <a:lnSpc>
                <a:spcPts val="47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Interfaz </a:t>
            </a:r>
          </a:p>
          <a:p>
            <a:pPr algn="l" marL="647700" indent="-323850" lvl="1">
              <a:lnSpc>
                <a:spcPts val="47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Documentación</a:t>
            </a:r>
          </a:p>
          <a:p>
            <a:pPr algn="l" marL="647700" indent="-323850" lvl="1">
              <a:lnSpc>
                <a:spcPts val="47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Pruebas y validación.</a:t>
            </a:r>
          </a:p>
          <a:p>
            <a:pPr algn="l">
              <a:lnSpc>
                <a:spcPts val="474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01163" y="7947146"/>
            <a:ext cx="1741029" cy="1741029"/>
          </a:xfrm>
          <a:custGeom>
            <a:avLst/>
            <a:gdLst/>
            <a:ahLst/>
            <a:cxnLst/>
            <a:rect r="r" b="b" t="t" l="l"/>
            <a:pathLst>
              <a:path h="1741029" w="1741029">
                <a:moveTo>
                  <a:pt x="0" y="0"/>
                </a:moveTo>
                <a:lnTo>
                  <a:pt x="1741030" y="0"/>
                </a:lnTo>
                <a:lnTo>
                  <a:pt x="1741030" y="1741029"/>
                </a:lnTo>
                <a:lnTo>
                  <a:pt x="0" y="17410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93744">
            <a:off x="7635488" y="8032933"/>
            <a:ext cx="1164250" cy="1569455"/>
          </a:xfrm>
          <a:custGeom>
            <a:avLst/>
            <a:gdLst/>
            <a:ahLst/>
            <a:cxnLst/>
            <a:rect r="r" b="b" t="t" l="l"/>
            <a:pathLst>
              <a:path h="1569455" w="1164250">
                <a:moveTo>
                  <a:pt x="0" y="0"/>
                </a:moveTo>
                <a:lnTo>
                  <a:pt x="1164251" y="0"/>
                </a:lnTo>
                <a:lnTo>
                  <a:pt x="1164251" y="1569455"/>
                </a:lnTo>
                <a:lnTo>
                  <a:pt x="0" y="15694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28809" y="1632068"/>
            <a:ext cx="7642869" cy="156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8"/>
              </a:lnSpc>
            </a:pPr>
            <a:r>
              <a:rPr lang="en-US" sz="8024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Equipo de trabajo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3400" y="637700"/>
            <a:ext cx="17241199" cy="8620600"/>
          </a:xfrm>
          <a:custGeom>
            <a:avLst/>
            <a:gdLst/>
            <a:ahLst/>
            <a:cxnLst/>
            <a:rect r="r" b="b" t="t" l="l"/>
            <a:pathLst>
              <a:path h="8620600" w="17241199">
                <a:moveTo>
                  <a:pt x="0" y="0"/>
                </a:moveTo>
                <a:lnTo>
                  <a:pt x="17241200" y="0"/>
                </a:lnTo>
                <a:lnTo>
                  <a:pt x="17241200" y="8620600"/>
                </a:lnTo>
                <a:lnTo>
                  <a:pt x="0" y="862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4041" y="-132440"/>
            <a:ext cx="14139918" cy="267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8"/>
              </a:lnSpc>
            </a:pPr>
            <a:r>
              <a:rPr lang="en-US" sz="13751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Desarrollo Técnico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916361">
            <a:off x="15903341" y="-116333"/>
            <a:ext cx="1938648" cy="2501482"/>
          </a:xfrm>
          <a:custGeom>
            <a:avLst/>
            <a:gdLst/>
            <a:ahLst/>
            <a:cxnLst/>
            <a:rect r="r" b="b" t="t" l="l"/>
            <a:pathLst>
              <a:path h="2501482" w="1938648">
                <a:moveTo>
                  <a:pt x="0" y="0"/>
                </a:moveTo>
                <a:lnTo>
                  <a:pt x="1938649" y="0"/>
                </a:lnTo>
                <a:lnTo>
                  <a:pt x="1938649" y="2501482"/>
                </a:lnTo>
                <a:lnTo>
                  <a:pt x="0" y="25014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564782"/>
            <a:ext cx="15843966" cy="597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Lenguajes y frameworks: JavaScript, HTML5, CSS3, Python </a:t>
            </a:r>
          </a:p>
          <a:p>
            <a:pPr algn="ctr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Posibles frameworks: React y Django.</a:t>
            </a:r>
          </a:p>
          <a:p>
            <a:pPr algn="ctr">
              <a:lnSpc>
                <a:spcPts val="4740"/>
              </a:lnSpc>
            </a:pPr>
          </a:p>
          <a:p>
            <a:pPr algn="ctr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Base de datos: SQL Server o MySQL</a:t>
            </a:r>
          </a:p>
          <a:p>
            <a:pPr algn="ctr">
              <a:lnSpc>
                <a:spcPts val="4740"/>
              </a:lnSpc>
            </a:pPr>
          </a:p>
          <a:p>
            <a:pPr algn="ctr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Seguridad: autenticación de usuarios, cifrado de datos y acceso mediante protocolos seguros (HTTPS).</a:t>
            </a:r>
          </a:p>
          <a:p>
            <a:pPr algn="ctr">
              <a:lnSpc>
                <a:spcPts val="4740"/>
              </a:lnSpc>
            </a:pPr>
          </a:p>
          <a:p>
            <a:pPr algn="ctr">
              <a:lnSpc>
                <a:spcPts val="4740"/>
              </a:lnSpc>
            </a:pPr>
            <a:r>
              <a:rPr lang="en-US" sz="3000" b="true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Infraestructura: despliegue en la nube </a:t>
            </a:r>
          </a:p>
          <a:p>
            <a:pPr algn="ctr">
              <a:lnSpc>
                <a:spcPts val="474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682590" y="9455763"/>
            <a:ext cx="3094776" cy="579567"/>
          </a:xfrm>
          <a:custGeom>
            <a:avLst/>
            <a:gdLst/>
            <a:ahLst/>
            <a:cxnLst/>
            <a:rect r="r" b="b" t="t" l="l"/>
            <a:pathLst>
              <a:path h="579567" w="3094776">
                <a:moveTo>
                  <a:pt x="0" y="0"/>
                </a:moveTo>
                <a:lnTo>
                  <a:pt x="3094776" y="0"/>
                </a:lnTo>
                <a:lnTo>
                  <a:pt x="3094776" y="579567"/>
                </a:lnTo>
                <a:lnTo>
                  <a:pt x="0" y="579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4041" y="3166255"/>
            <a:ext cx="2290963" cy="1505365"/>
          </a:xfrm>
          <a:custGeom>
            <a:avLst/>
            <a:gdLst/>
            <a:ahLst/>
            <a:cxnLst/>
            <a:rect r="r" b="b" t="t" l="l"/>
            <a:pathLst>
              <a:path h="1505365" w="2290963">
                <a:moveTo>
                  <a:pt x="0" y="0"/>
                </a:moveTo>
                <a:lnTo>
                  <a:pt x="2290963" y="0"/>
                </a:lnTo>
                <a:lnTo>
                  <a:pt x="2290963" y="1505364"/>
                </a:lnTo>
                <a:lnTo>
                  <a:pt x="0" y="1505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25347" y="3166255"/>
            <a:ext cx="2747319" cy="1886713"/>
          </a:xfrm>
          <a:custGeom>
            <a:avLst/>
            <a:gdLst/>
            <a:ahLst/>
            <a:cxnLst/>
            <a:rect r="r" b="b" t="t" l="l"/>
            <a:pathLst>
              <a:path h="1886713" w="2747319">
                <a:moveTo>
                  <a:pt x="0" y="0"/>
                </a:moveTo>
                <a:lnTo>
                  <a:pt x="2747319" y="0"/>
                </a:lnTo>
                <a:lnTo>
                  <a:pt x="2747319" y="1886713"/>
                </a:lnTo>
                <a:lnTo>
                  <a:pt x="0" y="18867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9610" t="-40623" r="-56799" b="-1693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89929" y="6556879"/>
            <a:ext cx="2695712" cy="2109147"/>
          </a:xfrm>
          <a:custGeom>
            <a:avLst/>
            <a:gdLst/>
            <a:ahLst/>
            <a:cxnLst/>
            <a:rect r="r" b="b" t="t" l="l"/>
            <a:pathLst>
              <a:path h="2109147" w="2695712">
                <a:moveTo>
                  <a:pt x="0" y="0"/>
                </a:moveTo>
                <a:lnTo>
                  <a:pt x="2695712" y="0"/>
                </a:lnTo>
                <a:lnTo>
                  <a:pt x="2695712" y="2109147"/>
                </a:lnTo>
                <a:lnTo>
                  <a:pt x="0" y="21091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44014" t="-3590" r="-39668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29664" y="4928167"/>
            <a:ext cx="1642037" cy="827176"/>
          </a:xfrm>
          <a:custGeom>
            <a:avLst/>
            <a:gdLst/>
            <a:ahLst/>
            <a:cxnLst/>
            <a:rect r="r" b="b" t="t" l="l"/>
            <a:pathLst>
              <a:path h="827176" w="1642037">
                <a:moveTo>
                  <a:pt x="0" y="0"/>
                </a:moveTo>
                <a:lnTo>
                  <a:pt x="1642037" y="0"/>
                </a:lnTo>
                <a:lnTo>
                  <a:pt x="1642037" y="827176"/>
                </a:lnTo>
                <a:lnTo>
                  <a:pt x="0" y="8271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843409" y="9545388"/>
            <a:ext cx="225977" cy="404128"/>
            <a:chOff x="0" y="0"/>
            <a:chExt cx="59517" cy="1064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517" cy="106437"/>
            </a:xfrm>
            <a:custGeom>
              <a:avLst/>
              <a:gdLst/>
              <a:ahLst/>
              <a:cxnLst/>
              <a:rect r="r" b="b" t="t" l="l"/>
              <a:pathLst>
                <a:path h="106437" w="59517">
                  <a:moveTo>
                    <a:pt x="0" y="0"/>
                  </a:moveTo>
                  <a:lnTo>
                    <a:pt x="59517" y="0"/>
                  </a:lnTo>
                  <a:lnTo>
                    <a:pt x="59517" y="106437"/>
                  </a:lnTo>
                  <a:lnTo>
                    <a:pt x="0" y="106437"/>
                  </a:lnTo>
                  <a:close/>
                </a:path>
              </a:pathLst>
            </a:custGeom>
            <a:solidFill>
              <a:srgbClr val="FC85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9517" cy="106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6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3478059" y="1433650"/>
            <a:ext cx="12638881" cy="8341662"/>
          </a:xfrm>
          <a:custGeom>
            <a:avLst/>
            <a:gdLst/>
            <a:ahLst/>
            <a:cxnLst/>
            <a:rect r="r" b="b" t="t" l="l"/>
            <a:pathLst>
              <a:path h="8341662" w="12638881">
                <a:moveTo>
                  <a:pt x="0" y="0"/>
                </a:moveTo>
                <a:lnTo>
                  <a:pt x="12638881" y="0"/>
                </a:lnTo>
                <a:lnTo>
                  <a:pt x="12638881" y="8341662"/>
                </a:lnTo>
                <a:lnTo>
                  <a:pt x="0" y="83416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3200809" y="1190625"/>
            <a:ext cx="12638881" cy="8341662"/>
          </a:xfrm>
          <a:custGeom>
            <a:avLst/>
            <a:gdLst/>
            <a:ahLst/>
            <a:cxnLst/>
            <a:rect r="r" b="b" t="t" l="l"/>
            <a:pathLst>
              <a:path h="8341662" w="12638881">
                <a:moveTo>
                  <a:pt x="0" y="0"/>
                </a:moveTo>
                <a:lnTo>
                  <a:pt x="12638881" y="0"/>
                </a:lnTo>
                <a:lnTo>
                  <a:pt x="12638881" y="8341662"/>
                </a:lnTo>
                <a:lnTo>
                  <a:pt x="0" y="83416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35509">
            <a:off x="1012721" y="1084300"/>
            <a:ext cx="3378940" cy="3133199"/>
          </a:xfrm>
          <a:custGeom>
            <a:avLst/>
            <a:gdLst/>
            <a:ahLst/>
            <a:cxnLst/>
            <a:rect r="r" b="b" t="t" l="l"/>
            <a:pathLst>
              <a:path h="3133199" w="3378940">
                <a:moveTo>
                  <a:pt x="0" y="0"/>
                </a:moveTo>
                <a:lnTo>
                  <a:pt x="3378940" y="0"/>
                </a:lnTo>
                <a:lnTo>
                  <a:pt x="3378940" y="3133199"/>
                </a:lnTo>
                <a:lnTo>
                  <a:pt x="0" y="31331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062410" y="1190625"/>
            <a:ext cx="3196890" cy="3588346"/>
          </a:xfrm>
          <a:custGeom>
            <a:avLst/>
            <a:gdLst/>
            <a:ahLst/>
            <a:cxnLst/>
            <a:rect r="r" b="b" t="t" l="l"/>
            <a:pathLst>
              <a:path h="3588346" w="3196890">
                <a:moveTo>
                  <a:pt x="3196890" y="0"/>
                </a:moveTo>
                <a:lnTo>
                  <a:pt x="0" y="0"/>
                </a:lnTo>
                <a:lnTo>
                  <a:pt x="0" y="3588346"/>
                </a:lnTo>
                <a:lnTo>
                  <a:pt x="3196890" y="3588346"/>
                </a:lnTo>
                <a:lnTo>
                  <a:pt x="319689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7180" y="8275871"/>
            <a:ext cx="1250022" cy="1118770"/>
          </a:xfrm>
          <a:custGeom>
            <a:avLst/>
            <a:gdLst/>
            <a:ahLst/>
            <a:cxnLst/>
            <a:rect r="r" b="b" t="t" l="l"/>
            <a:pathLst>
              <a:path h="1118770" w="1250022">
                <a:moveTo>
                  <a:pt x="0" y="0"/>
                </a:moveTo>
                <a:lnTo>
                  <a:pt x="1250022" y="0"/>
                </a:lnTo>
                <a:lnTo>
                  <a:pt x="1250022" y="1118770"/>
                </a:lnTo>
                <a:lnTo>
                  <a:pt x="0" y="1118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6401" y="6951220"/>
            <a:ext cx="1250022" cy="1118770"/>
          </a:xfrm>
          <a:custGeom>
            <a:avLst/>
            <a:gdLst/>
            <a:ahLst/>
            <a:cxnLst/>
            <a:rect r="r" b="b" t="t" l="l"/>
            <a:pathLst>
              <a:path h="1118770" w="1250022">
                <a:moveTo>
                  <a:pt x="0" y="0"/>
                </a:moveTo>
                <a:lnTo>
                  <a:pt x="1250022" y="0"/>
                </a:lnTo>
                <a:lnTo>
                  <a:pt x="1250022" y="1118769"/>
                </a:lnTo>
                <a:lnTo>
                  <a:pt x="0" y="11187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29798" y="3479055"/>
            <a:ext cx="7651558" cy="4590935"/>
          </a:xfrm>
          <a:custGeom>
            <a:avLst/>
            <a:gdLst/>
            <a:ahLst/>
            <a:cxnLst/>
            <a:rect r="r" b="b" t="t" l="l"/>
            <a:pathLst>
              <a:path h="4590935" w="7651558">
                <a:moveTo>
                  <a:pt x="0" y="0"/>
                </a:moveTo>
                <a:lnTo>
                  <a:pt x="7651558" y="0"/>
                </a:lnTo>
                <a:lnTo>
                  <a:pt x="7651558" y="4590934"/>
                </a:lnTo>
                <a:lnTo>
                  <a:pt x="0" y="45909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99184" y="1231887"/>
            <a:ext cx="11842130" cy="267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8"/>
              </a:lnSpc>
            </a:pPr>
            <a:r>
              <a:rPr lang="en-US" sz="13751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Cierre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DC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13335" y="-419791"/>
            <a:ext cx="22004932" cy="12350268"/>
          </a:xfrm>
          <a:custGeom>
            <a:avLst/>
            <a:gdLst/>
            <a:ahLst/>
            <a:cxnLst/>
            <a:rect r="r" b="b" t="t" l="l"/>
            <a:pathLst>
              <a:path h="12350268" w="22004932">
                <a:moveTo>
                  <a:pt x="0" y="0"/>
                </a:moveTo>
                <a:lnTo>
                  <a:pt x="22004932" y="0"/>
                </a:lnTo>
                <a:lnTo>
                  <a:pt x="22004932" y="12350268"/>
                </a:lnTo>
                <a:lnTo>
                  <a:pt x="0" y="1235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3597" y="1513298"/>
            <a:ext cx="14520806" cy="7260403"/>
          </a:xfrm>
          <a:custGeom>
            <a:avLst/>
            <a:gdLst/>
            <a:ahLst/>
            <a:cxnLst/>
            <a:rect r="r" b="b" t="t" l="l"/>
            <a:pathLst>
              <a:path h="7260403" w="14520806">
                <a:moveTo>
                  <a:pt x="0" y="0"/>
                </a:moveTo>
                <a:lnTo>
                  <a:pt x="14520806" y="0"/>
                </a:lnTo>
                <a:lnTo>
                  <a:pt x="14520806" y="7260404"/>
                </a:lnTo>
                <a:lnTo>
                  <a:pt x="0" y="7260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99624" y="6450324"/>
            <a:ext cx="4934209" cy="1067583"/>
          </a:xfrm>
          <a:custGeom>
            <a:avLst/>
            <a:gdLst/>
            <a:ahLst/>
            <a:cxnLst/>
            <a:rect r="r" b="b" t="t" l="l"/>
            <a:pathLst>
              <a:path h="1067583" w="4934209">
                <a:moveTo>
                  <a:pt x="0" y="0"/>
                </a:moveTo>
                <a:lnTo>
                  <a:pt x="4934209" y="0"/>
                </a:lnTo>
                <a:lnTo>
                  <a:pt x="4934209" y="1067584"/>
                </a:lnTo>
                <a:lnTo>
                  <a:pt x="0" y="10675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13001" y="6749812"/>
            <a:ext cx="5107454" cy="459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b="true" sz="2994" spc="-176">
                <a:solidFill>
                  <a:srgbClr val="000000"/>
                </a:solidFill>
                <a:latin typeface="Jura Bold"/>
                <a:ea typeface="Jura Bold"/>
                <a:cs typeface="Jura Bold"/>
                <a:sym typeface="Jura Bold"/>
              </a:rPr>
              <a:t>www.unsitiogenial.es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8972" y="3612868"/>
            <a:ext cx="15320652" cy="270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68"/>
              </a:lnSpc>
            </a:pPr>
            <a:r>
              <a:rPr lang="en-US" sz="13904" spc="152">
                <a:solidFill>
                  <a:srgbClr val="000000"/>
                </a:solidFill>
                <a:latin typeface="Point"/>
                <a:ea typeface="Point"/>
                <a:cs typeface="Point"/>
                <a:sym typeface="Point"/>
              </a:rPr>
              <a:t>MUCHAS GRACIAS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25326">
            <a:off x="15511537" y="7019322"/>
            <a:ext cx="1631188" cy="2638270"/>
          </a:xfrm>
          <a:custGeom>
            <a:avLst/>
            <a:gdLst/>
            <a:ahLst/>
            <a:cxnLst/>
            <a:rect r="r" b="b" t="t" l="l"/>
            <a:pathLst>
              <a:path h="2638270" w="1631188">
                <a:moveTo>
                  <a:pt x="0" y="0"/>
                </a:moveTo>
                <a:lnTo>
                  <a:pt x="1631188" y="0"/>
                </a:lnTo>
                <a:lnTo>
                  <a:pt x="1631188" y="2638270"/>
                </a:lnTo>
                <a:lnTo>
                  <a:pt x="0" y="2638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82380" y="1902159"/>
            <a:ext cx="662360" cy="662360"/>
          </a:xfrm>
          <a:custGeom>
            <a:avLst/>
            <a:gdLst/>
            <a:ahLst/>
            <a:cxnLst/>
            <a:rect r="r" b="b" t="t" l="l"/>
            <a:pathLst>
              <a:path h="662360" w="662360">
                <a:moveTo>
                  <a:pt x="0" y="0"/>
                </a:moveTo>
                <a:lnTo>
                  <a:pt x="662360" y="0"/>
                </a:lnTo>
                <a:lnTo>
                  <a:pt x="662360" y="662361"/>
                </a:lnTo>
                <a:lnTo>
                  <a:pt x="0" y="662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57824" y="2050506"/>
            <a:ext cx="1772352" cy="1711125"/>
          </a:xfrm>
          <a:custGeom>
            <a:avLst/>
            <a:gdLst/>
            <a:ahLst/>
            <a:cxnLst/>
            <a:rect r="r" b="b" t="t" l="l"/>
            <a:pathLst>
              <a:path h="1711125" w="1772352">
                <a:moveTo>
                  <a:pt x="0" y="0"/>
                </a:moveTo>
                <a:lnTo>
                  <a:pt x="1772352" y="0"/>
                </a:lnTo>
                <a:lnTo>
                  <a:pt x="1772352" y="1711125"/>
                </a:lnTo>
                <a:lnTo>
                  <a:pt x="0" y="1711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47407">
            <a:off x="987289" y="6665687"/>
            <a:ext cx="1999568" cy="3004815"/>
          </a:xfrm>
          <a:custGeom>
            <a:avLst/>
            <a:gdLst/>
            <a:ahLst/>
            <a:cxnLst/>
            <a:rect r="r" b="b" t="t" l="l"/>
            <a:pathLst>
              <a:path h="3004815" w="1999568">
                <a:moveTo>
                  <a:pt x="0" y="0"/>
                </a:moveTo>
                <a:lnTo>
                  <a:pt x="1999568" y="0"/>
                </a:lnTo>
                <a:lnTo>
                  <a:pt x="1999568" y="3004815"/>
                </a:lnTo>
                <a:lnTo>
                  <a:pt x="0" y="30048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2564520"/>
            <a:ext cx="1250022" cy="1118770"/>
          </a:xfrm>
          <a:custGeom>
            <a:avLst/>
            <a:gdLst/>
            <a:ahLst/>
            <a:cxnLst/>
            <a:rect r="r" b="b" t="t" l="l"/>
            <a:pathLst>
              <a:path h="1118770" w="1250022">
                <a:moveTo>
                  <a:pt x="0" y="0"/>
                </a:moveTo>
                <a:lnTo>
                  <a:pt x="1250022" y="0"/>
                </a:lnTo>
                <a:lnTo>
                  <a:pt x="1250022" y="1118770"/>
                </a:lnTo>
                <a:lnTo>
                  <a:pt x="0" y="11187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32946" y="1028700"/>
            <a:ext cx="1250022" cy="1118770"/>
          </a:xfrm>
          <a:custGeom>
            <a:avLst/>
            <a:gdLst/>
            <a:ahLst/>
            <a:cxnLst/>
            <a:rect r="r" b="b" t="t" l="l"/>
            <a:pathLst>
              <a:path h="1118770" w="1250022">
                <a:moveTo>
                  <a:pt x="0" y="0"/>
                </a:moveTo>
                <a:lnTo>
                  <a:pt x="1250022" y="0"/>
                </a:lnTo>
                <a:lnTo>
                  <a:pt x="1250022" y="1118770"/>
                </a:lnTo>
                <a:lnTo>
                  <a:pt x="0" y="11187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DAG5BSrwnm4</dc:identifier>
  <dcterms:modified xsi:type="dcterms:W3CDTF">2011-08-01T06:04:30Z</dcterms:modified>
  <cp:revision>1</cp:revision>
  <dc:title>Copia de Capstone 004D</dc:title>
</cp:coreProperties>
</file>